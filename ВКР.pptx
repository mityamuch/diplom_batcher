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7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318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13541-B05E-4552-95DD-0156478D5135}" type="datetimeFigureOut">
              <a:rPr lang="ru-RU" smtClean="0"/>
              <a:t>12.05.2026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B1E1E-DB43-415F-831B-5877A2B07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812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9D40AE9E-7EAA-E19B-1449-CAD642E5A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38A3-B5FA-4892-8782-04A8FAC2DE2D}" type="datetime1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9CA5C7-E0A8-D978-C348-04556224A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5095A-9844-D13C-808D-CE4B8DF8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DE1E8BF-F447-4BD7-9682-FF3C6998DF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14">
            <a:extLst>
              <a:ext uri="{FF2B5EF4-FFF2-40B4-BE49-F238E27FC236}">
                <a16:creationId xmlns:a16="http://schemas.microsoft.com/office/drawing/2014/main" id="{4C50BF7C-4E97-4AA8-AD92-A17FCFB91D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86" y="273721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B1D4D02F-E9EF-4566-985F-312283518A0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432" y="169511"/>
            <a:ext cx="756000" cy="756000"/>
          </a:xfrm>
          <a:prstGeom prst="rect">
            <a:avLst/>
          </a:pr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09F07E0A-AE1C-462F-9625-1319AFB1D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734C9277-B29D-4E66-85F0-307D513EF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20440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B9CB8-6D19-3AEA-1CF3-4B81C0F3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  <a:latin typeface="Impact" panose="020B0806030902050204" pitchFamily="34" charset="0"/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00D62C-984D-0F4D-DEAB-2CF3FE82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 Narrow" panose="020B0606020202030204" pitchFamily="34" charset="0"/>
              </a:defRPr>
            </a:lvl1pPr>
            <a:lvl2pPr>
              <a:defRPr>
                <a:latin typeface="Arial Narrow" panose="020B0606020202030204" pitchFamily="34" charset="0"/>
              </a:defRPr>
            </a:lvl2pPr>
            <a:lvl3pPr>
              <a:defRPr>
                <a:latin typeface="Arial Narrow" panose="020B0606020202030204" pitchFamily="34" charset="0"/>
              </a:defRPr>
            </a:lvl3pPr>
            <a:lvl4pPr>
              <a:defRPr>
                <a:latin typeface="Arial Narrow" panose="020B0606020202030204" pitchFamily="34" charset="0"/>
              </a:defRPr>
            </a:lvl4pPr>
            <a:lvl5pPr>
              <a:defRPr>
                <a:latin typeface="Arial Narrow" panose="020B060602020203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BF4D9E-BB75-BC74-824E-29DC98C15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9DC75-0073-477D-B85F-B87BD2D9AA66}" type="datetime1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A20BCE-D28D-1DD7-C5E8-C41A4CF9D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517AC7-DD1F-0F43-4EF6-526F2CA5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 sz="2400"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8230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E56F84-824A-FBD9-9C64-3D22056D8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E4AC80-28FC-F758-5D7E-2EC25D680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685893-273D-03C2-D13A-2954ABDCB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6988C-DC8F-439B-AB31-15A4297BC55F}" type="datetime1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8C9142-6079-7C64-4476-57AD7E191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185AD7-245A-F056-6102-F20413E9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42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C5F12-CB87-36C4-4C4A-03A51C257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8216A7-D18C-122F-B769-3F585F5CB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7D60A8F-08FB-2547-9884-ED546FEBE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702D29-B561-8B0F-F7E3-BA07DA157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422C7-A0AF-4B73-A3E0-92773191928A}" type="datetime1">
              <a:rPr lang="ru-RU" smtClean="0"/>
              <a:t>12.05.2026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4E2FB0-80C8-435C-72ED-FAFB3A933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BC351E-F527-8051-2F11-060401C54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9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0BF19F-23EA-C82D-EAD6-E2F8F344A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54FC64-EBA9-C75D-C24B-FF92FE2F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2D1998-5AA5-2509-E83C-FC11F6C99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2B318A-6E8B-2EC3-6915-E9D51422E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64680F-351F-90E8-95EB-46569216E5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11C92B1-B12E-7F66-265B-49BFCED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75EF7-06F9-47F2-ABB5-15A865F5A607}" type="datetime1">
              <a:rPr lang="ru-RU" smtClean="0"/>
              <a:t>12.05.2026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71031A4-4DA7-EB65-6EA7-92C1FA21C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62D7A3-D027-D612-060D-ACA0287C3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48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EA5C-3DF8-36A7-E703-E4FFFEA4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71BDCB2-79FC-34EF-A915-535B50EA3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133A35-A3AC-4FD5-9F62-E2E842F797D6}" type="datetime1">
              <a:rPr lang="ru-RU" smtClean="0"/>
              <a:t>12.05.2026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0BC0D6-FCA4-9CAB-9CBB-F7F6767B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F7D13D-6456-ABF8-B3A8-3921C601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818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76F736-8228-8360-7960-9C12F86E4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FB44B-5874-4EB6-914B-68491120A420}" type="datetime1">
              <a:rPr lang="ru-RU" smtClean="0"/>
              <a:t>12.05.2026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0F6EE67-52B4-9358-5E04-0F341C4EF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677A64-8ACA-91BC-7D2C-F29956189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470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830B7F-2C37-1D18-709B-529A744D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76B432-BB1E-BB7A-C5DE-9D9E436DE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48938C-4B8C-C3B1-9004-69C7FA5B56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FC399B-C28E-D9E5-6B69-496BA3811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9103B-4E77-49D0-9E40-D0F96ACD7E42}" type="datetime1">
              <a:rPr lang="ru-RU" smtClean="0"/>
              <a:t>12.05.2026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C0009B-7CDD-8E58-D125-AD02AB0D9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D9D335D-91B4-1EE5-A153-669529708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37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841257-E821-2EFE-F4B2-568DBB710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398E54-99A1-16FA-07E2-998E7BA72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C15B409-700F-50AB-70F7-1C63300EA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51E04C-9663-2652-594F-5EF0FD521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F4974-916B-4771-921F-D6B7309972A3}" type="datetime1">
              <a:rPr lang="ru-RU" smtClean="0"/>
              <a:t>12.05.2026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A2849C-236C-1692-1D7A-FEE0EB55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6D6689-8498-2FC2-24E4-757BD5BF2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24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090FF-039C-B667-C2D9-965CE468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AD7DB03-D7A4-5F64-A77E-A6AEFCA3E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9C5B19-B263-2CBA-FF72-E17088A6F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DF212-0581-4804-9196-08E59AD85A60}" type="datetime1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1A1671-6668-C911-E003-441052A93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81DEC3-2D76-ED76-CC14-81086C93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157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2173E8-8F12-1B34-A8FF-06866B9CD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E24B7C-FCF4-861C-FE27-F41A78A90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82576D-E217-7A78-7D94-052D51584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33102-27BA-4101-BD19-C265B43D1861}" type="datetime1">
              <a:rPr lang="ru-RU" smtClean="0"/>
              <a:t>12.05.2026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05B6A5-A228-0529-4620-E999888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B7FF60-D08C-AC78-BADB-4DA7E6F3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755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1142D4-F29C-B262-5AEE-2237EB60194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356350"/>
            <a:ext cx="12192000" cy="51816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D1B3A-92EF-0C7A-2BAC-538AFB488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D6C7B3-39DD-B740-32FA-A16F19D82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770914-14FB-2556-F151-0F04939F1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fld id="{2732E4CB-F021-4DE4-87F8-062D97973001}" type="datetime1">
              <a:rPr lang="ru-RU" smtClean="0"/>
              <a:t>12.05.2026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6EEE-6F5B-DB73-F3C0-AE8E08807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0D6AD2-8755-A3BF-02D2-A3ABBD7E3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31044" y="298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rgbClr val="0070C0"/>
                </a:solidFill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1E4547E6-9B94-D7C3-AABF-EF1819642B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7" y="105046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58FAC22D-CBF1-C85B-B1A7-47273E9251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7" y="945400"/>
            <a:ext cx="756000" cy="7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9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070C0"/>
          </a:solidFill>
          <a:latin typeface="Impact" panose="020B080603090205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FA427EA-5E22-B39B-273B-7274EA44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1321393"/>
            <a:ext cx="10053763" cy="2928470"/>
          </a:xfrm>
        </p:spPr>
        <p:txBody>
          <a:bodyPr anchor="b">
            <a:normAutofit/>
          </a:bodyPr>
          <a:lstStyle/>
          <a:p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Выпускная квалификационная работа магистра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на тему: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«Асимптотический анализ алгоритма сортировки Бэтчера и его сравнение с классическими методами сортировки</a:t>
            </a: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»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B067939-1760-9AA1-F25F-01580DA39F4C}"/>
              </a:ext>
            </a:extLst>
          </p:cNvPr>
          <p:cNvSpPr txBox="1">
            <a:spLocks/>
          </p:cNvSpPr>
          <p:nvPr/>
        </p:nvSpPr>
        <p:spPr>
          <a:xfrm>
            <a:off x="1350682" y="4875589"/>
            <a:ext cx="10005951" cy="19158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Студент группы М8О-209СВ-24: Муханов Дмитрий Ильич</a:t>
            </a: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Научный руководитель: </a:t>
            </a:r>
            <a:r>
              <a:rPr lang="ru-RU" sz="2000" dirty="0"/>
              <a:t>Романенков Александр Михайлович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000" dirty="0"/>
              <a:t>Москва –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D28F94-4E2D-7F4A-064D-41DD0B44ACA9}"/>
              </a:ext>
            </a:extLst>
          </p:cNvPr>
          <p:cNvSpPr txBox="1"/>
          <p:nvPr/>
        </p:nvSpPr>
        <p:spPr>
          <a:xfrm>
            <a:off x="1509690" y="216967"/>
            <a:ext cx="97631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sz="20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Кафедра № 806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2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8CA085-CB2E-7E01-C20A-93CC4FEE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23451-EE1F-73EA-B32F-E69F97E3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	</a:t>
            </a:r>
            <a:r>
              <a:rPr lang="ru-RU" sz="16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Актуальность темы </a:t>
            </a:r>
            <a:r>
              <a:rPr lang="ru-RU" sz="16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определяется следующими обстоятельствами</a:t>
            </a:r>
            <a:r>
              <a:rPr lang="en-US" sz="16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  <a:endParaRPr lang="ru-RU" sz="1600" kern="1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ru-RU" sz="16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	</a:t>
            </a:r>
            <a:r>
              <a:rPr lang="ru-RU" sz="16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1) Во-первых, возрастающей ролью параллельных сортировок и сортировочных сетей в современных программно-аппаратных системах: сортировка Бэтчера и родственные ей битонические схемы находят непосредственное применение в задачах, где последовательные сортировки оказываются неэффективными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ru-RU" sz="16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2) </a:t>
            </a:r>
            <a:r>
              <a:rPr lang="ru-RU" sz="16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Во-вторых, отсутствием в доступной учебной и научной литературе систематизированного изложения, в котором единым методом рекуррентных соотношений анализировались бы как сортировочные сети, так и широкий класс классических алгоритмов сортировки и алгоритмы смежных прикладных областей, а границы применимости самого метода были бы явно сформулированы.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4A2A4D5-4006-16F5-EC17-DCB6F42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AFCABE1-6F41-7EE7-2525-FF2DD89A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41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EF03A6-2352-7272-03B2-199F38EB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7877F83-DD0A-C6A0-7DEB-E2545D1D08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indent="0" algn="just">
                  <a:lnSpc>
                    <a:spcPct val="150000"/>
                  </a:lnSpc>
                  <a:spcAft>
                    <a:spcPts val="1000"/>
                  </a:spcAft>
                  <a:buNone/>
                </a:pPr>
                <a:r>
                  <a:rPr lang="en-US" sz="18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900" b="1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Цель работы — 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разработать и систематически применить единый метод асимптотического анализа, основанный на решении рекуррентных соотношений, к чётно-нечётной сортировке слиянием Бэтчера и родственным ей алгоритмам; получить точные замкнутые формулы их сложности; провести экспериментальную верификацию теоретических результатов. Для достижения поставленной цели в работе решаются следующие задачи: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Систематизировать теоретические основы асимптотического анализа алгоритмов сортировки</a:t>
                </a:r>
              </a:p>
              <a:p>
                <a:pPr marL="342900" lvl="0" indent="-3429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Провести полный математический анализ сложности сортировки Бэтчера: записать и решить рекуррентные соотношения для числа компараторов операции слияния 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(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n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), полной сортировки </a:t>
                </a:r>
                <a14:m>
                  <m:oMath xmlns:m="http://schemas.openxmlformats.org/officeDocument/2006/math">
                    <m:r>
                      <a:rPr lang="en-US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900" i="1" kern="100" dirty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900" i="1" kern="100" dirty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900" i="1" kern="100" dirty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и глубины сети </a:t>
                </a:r>
                <a14:m>
                  <m:oMath xmlns:m="http://schemas.openxmlformats.org/officeDocument/2006/math">
                    <m:r>
                      <a:rPr lang="en-US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𝑑</m:t>
                    </m:r>
                    <m:r>
                      <a:rPr lang="ru-RU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_</m:t>
                    </m:r>
                    <m:r>
                      <a:rPr lang="en-US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900" i="1" kern="100" dirty="0" smtClean="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 получить точные замкнутые формулы и их асимптотические оценки.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Применить тот же метод к классическим алгоритмам сортировки (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 Sort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Quick Sort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en-US" sz="1900" kern="100" dirty="0" err="1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Bitonic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Sort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Insertion Sort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, 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Heap Sort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Исследовать границы применимости метода решения рекуррентных соотношений: сформулировать необходимые условия его применения, выявить алгоритмы, для которых требуются альтернативные методы анализа (вероятностный, амортизированный, комбинаторный, прямое суммирование), и обосновать выбор этих методов.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Распространить метод на алгоритмы, имеющие рекурсивную структуру и выявить структурные аналогии с сортировкой Бэтчера.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342900" lvl="0" indent="-34290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Разработать программную реализацию рассматриваемых алгоритмов сортировки на языке </a:t>
                </a:r>
                <a:r>
                  <a:rPr lang="en-US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Python</a:t>
                </a:r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с подсчётом числа сравнений; провести машинный эксперимент и экспериментально верифицировать полученные замкнутые формулы на серии размеров входа </a:t>
                </a:r>
                <a14:m>
                  <m:oMath xmlns:m="http://schemas.openxmlformats.org/officeDocument/2006/math">
                    <m:r>
                      <a:rPr lang="en-US" sz="19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900" i="1" kern="100">
                        <a:effectLst/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 = </m:t>
                    </m:r>
                    <m:sSup>
                      <m:sSupPr>
                        <m:ctrlPr>
                          <a:rPr lang="ru-RU" sz="19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9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e>
                      <m:sup>
                        <m:r>
                          <a:rPr lang="en-US" sz="1900" i="1" kern="100">
                            <a:effectLst/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ru-RU" sz="1900" kern="100" dirty="0">
                    <a:effectLst/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9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D7877F83-DD0A-C6A0-7DEB-E2545D1D08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EF83C26-530B-0FEB-CBA1-26A45D4D6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F58D7BF-EEF6-A101-6867-4E07799F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8592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Объект исследования: сортировка Бэтчера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60000"/>
                  </a:lnSpc>
                  <a:buNone/>
                </a:pPr>
                <a:r>
                  <a:rPr lang="en-US" sz="11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Это один из классических примеров сортировочной сети: для каждого n задаётся фиксированная последовательность компараторов (пары индексов). Порядок сравнений не зависит от значений ключей, поэтому число сравнений одинаково в лучшем, среднем и худшем случаях — удобно для параллельной и аппаратной реализации и для строгого анализа.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Полная чётно‑нечётная сортировка слиянием (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Sort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по принципу «сортировка через слияние»: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1) Рекурсивно отсортировать левую половину длины n/2.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2) Рекурсивно отсортировать правую половину длины n/2.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3) К двум уже отсортированным под-массивам применить операцию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(чётно‑нечётное слияние).</a:t>
                </a:r>
              </a:p>
              <a:p>
                <a:pPr marL="0" indent="0">
                  <a:buNone/>
                </a:pP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</a:p>
              <a:p>
                <a:pPr marL="0" indent="0">
                  <a:buNone/>
                </a:pP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Операция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(слияние двух отсортированных половин одного массива длины n) устроена таким образом:</a:t>
                </a:r>
              </a:p>
              <a:p>
                <a:pPr marL="0" indent="0"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1) при n=2 выполняется одно сравнение </a:t>
                </a:r>
                <a14:m>
                  <m:oMath xmlns:m="http://schemas.openxmlformats.org/officeDocument/2006/math"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0​,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1​)</m:t>
                    </m:r>
                  </m:oMath>
                </a14:m>
                <a:endParaRPr lang="ru-RU" sz="12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50000"/>
                  </a:lnSpc>
                  <a:buSzPts val="1000"/>
                  <a:buNone/>
                  <a:tabLst>
                    <a:tab pos="4572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	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2) при n&gt;2:</a:t>
                </a:r>
              </a:p>
              <a:p>
                <a:pPr marL="2571750" lvl="5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подпоследовательности элементов с чётными индексами </a:t>
                </a:r>
                <a14:m>
                  <m:oMath xmlns:m="http://schemas.openxmlformats.org/officeDocument/2006/math"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₀, 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₂, 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₄, …, 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ₙ₋₂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​;</a:t>
                </a:r>
              </a:p>
              <a:p>
                <a:pPr marL="2571750" lvl="5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к подпоследовательности элементов с нечётными индексами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a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₁, </m:t>
                    </m:r>
                    <m:r>
                      <m:rPr>
                        <m:sty m:val="p"/>
                      </m:rP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a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₃, </m:t>
                    </m:r>
                    <m:r>
                      <m:rPr>
                        <m:sty m:val="p"/>
                      </m:rP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a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₅, …, </m:t>
                    </m:r>
                    <m:r>
                      <m:rPr>
                        <m:sty m:val="p"/>
                      </m:rP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a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ₙ₋₁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​;</a:t>
                </a:r>
              </a:p>
              <a:p>
                <a:pPr marL="2571750" lvl="5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выполняется серия попарных сравнений </a:t>
                </a:r>
                <a14:m>
                  <m:oMath xmlns:m="http://schemas.openxmlformats.org/officeDocument/2006/math"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ᵢ, 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ᵢ₊₁) 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для всех нечётных </a:t>
                </a:r>
                <a14:m>
                  <m:oMath xmlns:m="http://schemas.openxmlformats.org/officeDocument/2006/math"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=1,3,5,…,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−3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1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  <a:blipFill>
                <a:blip r:embed="rId2"/>
                <a:stretch>
                  <a:fillRect l="-5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3800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 Асимптотическая сложность сортировки Бэтчера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742950" lvl="1" indent="-28575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перации чётно-нечётного слияния: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𝑙𝑜𝑔</m:t>
                    </m:r>
                    <m:r>
                      <a:rPr lang="ru-RU" sz="180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₂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−1)+1,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откуда следует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𝑛𝑙𝑜𝑔𝑛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Асимптотическая сложность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𝑛𝑙𝑜</m:t>
                        </m:r>
                        <m:sSup>
                          <m:sSup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𝑙𝑜</m:t>
                            </m:r>
                            <m:sSup>
                              <m:sSupPr>
                                <m:ctrlP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𝑔</m:t>
                                </m:r>
                              </m:e>
                              <m:sup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асимптотическая оценка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𝑙𝑜</m:t>
                    </m:r>
                    <m:sSup>
                      <m:sSupPr>
                        <m:ctrlP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𝑔</m:t>
                        </m:r>
                      </m:e>
                      <m: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Глубина сортировочной сети Бэтчера формула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𝑙𝑜</m:t>
                        </m:r>
                        <m:sSup>
                          <m:sSup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𝑔</m:t>
                            </m:r>
                          </m:e>
                          <m:sup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𝑙𝑜</m:t>
                            </m:r>
                            <m:sSup>
                              <m:sSupPr>
                                <m:ctrlP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𝑔</m:t>
                                </m:r>
                              </m:e>
                              <m:sup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ru-RU" sz="1800" i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log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func>
                    <m:r>
                      <a:rPr lang="ru-RU" sz="1800" b="1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5672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 исследования и выбранный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rtl="0"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Рассмотренные методы: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раскрутки рекуррентных соотношений;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мастер-теорема;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Акра–</a:t>
            </a:r>
            <a:r>
              <a:rPr lang="ru-RU" sz="14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Баззи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прямой подсчёт;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вероятностный и амортизированный анализ.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 метод раскрутки: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даёт не только асимптотику, но и точную формулу;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хорошо подходит для рекурсивных алгоритмов;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прозрачно показывает вклад каждого уровня рекурсии.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en-US" sz="110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7885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раскрутка для операции слияния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M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(n)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число попарных сравнений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процедуре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для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 dirty="0" smtClean="0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&gt;2</m:t>
                    </m:r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(пара элементов каждый раз упорядочивается операцией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min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/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max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). Рекуррентное соотношение: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sz="12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2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i="1"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1800" i="1">
                                  <a:effectLst/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− 1,  </m:t>
                      </m:r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a:rPr lang="ru-RU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r>
                        <a:rPr lang="ru-RU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(1)</m:t>
                      </m:r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Идея: подставить M</a:t>
                </a: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(n)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себя k раз — получится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ₘ = 2ᵏ </m:t>
                      </m:r>
                      <m:sSub>
                        <m:sSub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+ 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𝑘</m:t>
                      </m:r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· 2</m:t>
                      </m:r>
                      <m:sSup>
                        <m:sSup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ᵐ</m:t>
                          </m:r>
                        </m:e>
                        <m:sup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 i="1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</m:t>
                      </m:r>
                      <m:d>
                        <m:dPr>
                          <m:ctrlPr>
                            <a:rPr lang="ru-RU" sz="1200" i="1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2ᵏ − 1</m:t>
                          </m:r>
                        </m:e>
                      </m:d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k=m−1:</a:t>
                </a:r>
              </a:p>
              <a:p>
                <a:pPr marL="0" indent="0" algn="just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𝑙𝑜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+ 1 ∈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𝑛𝑙𝑜𝑔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Те же приёмы дают функции полной сортировочной сети: суммарное число сравнений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глубину (число «слоёв» зависимых сравнений)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𝑑𝑆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48" t="-980" r="-638" b="-15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11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Необходимые условия применимости (разд. 2.3.1 ВКР)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ru-RU" sz="1800" dirty="0">
                    <a:latin typeface="Times New Roman" panose="02020603050405020304" pitchFamily="18" charset="0"/>
                  </a:rPr>
                  <a:t>Прямая раскрутка уместна, если выполняются три условия:</a:t>
                </a:r>
              </a:p>
              <a:p>
                <a:pPr indent="449580" algn="just">
                  <a:lnSpc>
                    <a:spcPct val="15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A — рекурсивная структура.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Задача размера n должна сводиться к одной или нескольким подзадачам того же типа меньшего размера. Например, сортировка слиянием сводит сортировку массива длины n к сортировке двух массивов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𝒏</m:t>
                        </m:r>
                      </m:num>
                      <m:den>
                        <m:r>
                          <a:rPr lang="ru-RU" sz="1800" b="1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; </a:t>
                </a: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Бэтчера сводит сортировку к двум сортировкам половин и чётно-нечётному слиянию.</a:t>
                </a:r>
              </a:p>
              <a:p>
                <a:pPr indent="449580" algn="just">
                  <a:lnSpc>
                    <a:spcPct val="15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B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—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детерминированные размеры подзадач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Размеры подзадач должны определяться только n, а не содержимым входных данных. В сортировке Бэтчера подзадачи всегда имеют размеры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поэтому рекуррентность фиксирована. В быстрой сортировке размеры подзадач зависят от положения опорного элемента, что нарушает это условие в среднем случае.</a:t>
                </a:r>
              </a:p>
              <a:p>
                <a:pPr indent="449580" algn="just">
                  <a:lnSpc>
                    <a:spcPct val="150000"/>
                  </a:lnSpc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C — явно выраженная склеивающая работа.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Работа, выполняемая вне рекурсивных вызовов, должна быть выражена формулой от n. В сортировке слиянием это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ru-RU" sz="180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cn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чётно-нечётном слиянии Бэтчера —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алгоритме Карацубы — Θ(n).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  <a:blipFill>
                <a:blip r:embed="rId2"/>
                <a:stretch>
                  <a:fillRect l="-232" t="-1681" r="-2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375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746" y="365125"/>
            <a:ext cx="10515600" cy="1325563"/>
          </a:xfrm>
        </p:spPr>
        <p:txBody>
          <a:bodyPr/>
          <a:lstStyle/>
          <a:p>
            <a:r>
              <a:rPr lang="ru-RU" dirty="0"/>
              <a:t>Соответствие классических сортировок условиям A–C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9</a:t>
            </a:fld>
            <a:endParaRPr lang="ru-RU" dirty="0"/>
          </a:p>
        </p:txBody>
      </p:sp>
      <p:graphicFrame>
        <p:nvGraphicFramePr>
          <p:cNvPr id="12" name="Объект 11">
            <a:extLst>
              <a:ext uri="{FF2B5EF4-FFF2-40B4-BE49-F238E27FC236}">
                <a16:creationId xmlns:a16="http://schemas.microsoft.com/office/drawing/2014/main" id="{DE20148F-6EB6-E3AB-403C-5DCDBCF08E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40341977"/>
              </p:ext>
            </p:extLst>
          </p:nvPr>
        </p:nvGraphicFramePr>
        <p:xfrm>
          <a:off x="605396" y="1879250"/>
          <a:ext cx="9137984" cy="394399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23940">
                  <a:extLst>
                    <a:ext uri="{9D8B030D-6E8A-4147-A177-3AD203B41FA5}">
                      <a16:colId xmlns:a16="http://schemas.microsoft.com/office/drawing/2014/main" val="2972771461"/>
                    </a:ext>
                  </a:extLst>
                </a:gridCol>
                <a:gridCol w="1828511">
                  <a:extLst>
                    <a:ext uri="{9D8B030D-6E8A-4147-A177-3AD203B41FA5}">
                      <a16:colId xmlns:a16="http://schemas.microsoft.com/office/drawing/2014/main" val="2908776324"/>
                    </a:ext>
                  </a:extLst>
                </a:gridCol>
                <a:gridCol w="1828511">
                  <a:extLst>
                    <a:ext uri="{9D8B030D-6E8A-4147-A177-3AD203B41FA5}">
                      <a16:colId xmlns:a16="http://schemas.microsoft.com/office/drawing/2014/main" val="1968334037"/>
                    </a:ext>
                  </a:extLst>
                </a:gridCol>
                <a:gridCol w="1828511">
                  <a:extLst>
                    <a:ext uri="{9D8B030D-6E8A-4147-A177-3AD203B41FA5}">
                      <a16:colId xmlns:a16="http://schemas.microsoft.com/office/drawing/2014/main" val="2864858108"/>
                    </a:ext>
                  </a:extLst>
                </a:gridCol>
                <a:gridCol w="1828511">
                  <a:extLst>
                    <a:ext uri="{9D8B030D-6E8A-4147-A177-3AD203B41FA5}">
                      <a16:colId xmlns:a16="http://schemas.microsoft.com/office/drawing/2014/main" val="4120696970"/>
                    </a:ext>
                  </a:extLst>
                </a:gridCol>
              </a:tblGrid>
              <a:tr h="727783"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Алгоритм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A: </a:t>
                      </a:r>
                      <a:r>
                        <a:rPr lang="ru-RU">
                          <a:effectLst/>
                        </a:rPr>
                        <a:t>рекурсия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B: </a:t>
                      </a:r>
                      <a:r>
                        <a:rPr lang="ru-RU">
                          <a:effectLst/>
                        </a:rPr>
                        <a:t>фиксированные размеры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C: </a:t>
                      </a:r>
                      <a:r>
                        <a:rPr lang="ru-RU">
                          <a:effectLst/>
                        </a:rPr>
                        <a:t>явная работа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Метод применим?</a:t>
                      </a:r>
                      <a:endParaRPr lang="ru-RU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8527655"/>
                  </a:ext>
                </a:extLst>
              </a:tr>
              <a:tr h="536218"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Бэтчера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775465"/>
                  </a:ext>
                </a:extLst>
              </a:tr>
              <a:tr h="30641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Merge Sort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46044621"/>
                  </a:ext>
                </a:extLst>
              </a:tr>
              <a:tr h="306410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Bitonic Sort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6821890"/>
                  </a:ext>
                </a:extLst>
              </a:tr>
              <a:tr h="995833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Quick Sort, </a:t>
                      </a:r>
                      <a:r>
                        <a:rPr lang="ru-RU">
                          <a:effectLst/>
                        </a:rPr>
                        <a:t>лучший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51411420"/>
                  </a:ext>
                </a:extLst>
              </a:tr>
              <a:tr h="766026"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Quick Sort, </a:t>
                      </a:r>
                      <a:r>
                        <a:rPr lang="ru-RU">
                          <a:effectLst/>
                        </a:rPr>
                        <a:t>худший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>
                          <a:effectLst/>
                        </a:rPr>
                        <a:t>да</a:t>
                      </a:r>
                      <a:endParaRPr lang="ru-RU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effectLst/>
                        </a:rPr>
                        <a:t>да</a:t>
                      </a:r>
                      <a:endParaRPr lang="ru-RU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7463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5317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Когда метод «как есть» не применим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60680" y="6243462"/>
            <a:ext cx="4126949" cy="614538"/>
          </a:xfrm>
        </p:spPr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10</a:t>
            </a:fld>
            <a:endParaRPr lang="ru-RU" dirty="0"/>
          </a:p>
        </p:txBody>
      </p:sp>
      <p:graphicFrame>
        <p:nvGraphicFramePr>
          <p:cNvPr id="11" name="Объект 10">
            <a:extLst>
              <a:ext uri="{FF2B5EF4-FFF2-40B4-BE49-F238E27FC236}">
                <a16:creationId xmlns:a16="http://schemas.microsoft.com/office/drawing/2014/main" id="{3486DF08-C118-CE32-DF9F-1101F9970D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73703654"/>
              </p:ext>
            </p:extLst>
          </p:nvPr>
        </p:nvGraphicFramePr>
        <p:xfrm>
          <a:off x="567559" y="1753126"/>
          <a:ext cx="10786240" cy="318847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696560">
                  <a:extLst>
                    <a:ext uri="{9D8B030D-6E8A-4147-A177-3AD203B41FA5}">
                      <a16:colId xmlns:a16="http://schemas.microsoft.com/office/drawing/2014/main" val="1611344132"/>
                    </a:ext>
                  </a:extLst>
                </a:gridCol>
                <a:gridCol w="2696560">
                  <a:extLst>
                    <a:ext uri="{9D8B030D-6E8A-4147-A177-3AD203B41FA5}">
                      <a16:colId xmlns:a16="http://schemas.microsoft.com/office/drawing/2014/main" val="503660173"/>
                    </a:ext>
                  </a:extLst>
                </a:gridCol>
                <a:gridCol w="2696560">
                  <a:extLst>
                    <a:ext uri="{9D8B030D-6E8A-4147-A177-3AD203B41FA5}">
                      <a16:colId xmlns:a16="http://schemas.microsoft.com/office/drawing/2014/main" val="1941540570"/>
                    </a:ext>
                  </a:extLst>
                </a:gridCol>
                <a:gridCol w="2696560">
                  <a:extLst>
                    <a:ext uri="{9D8B030D-6E8A-4147-A177-3AD203B41FA5}">
                      <a16:colId xmlns:a16="http://schemas.microsoft.com/office/drawing/2014/main" val="2122764893"/>
                    </a:ext>
                  </a:extLst>
                </a:gridCol>
              </a:tblGrid>
              <a:tr h="45299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Алгоритм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Нарушенное условие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Причина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Альтернативный метод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990475179"/>
                  </a:ext>
                </a:extLst>
              </a:tr>
              <a:tr h="45299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Quick </a:t>
                      </a:r>
                      <a:r>
                        <a:rPr lang="ru-RU" sz="1200" dirty="0" err="1">
                          <a:effectLst/>
                        </a:rPr>
                        <a:t>Sort</a:t>
                      </a:r>
                      <a:r>
                        <a:rPr lang="ru-RU" sz="1200" dirty="0">
                          <a:effectLst/>
                        </a:rPr>
                        <a:t>, средний случай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B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случайный размер подзадач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вероятностный анализ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889969963"/>
                  </a:ext>
                </a:extLst>
              </a:tr>
              <a:tr h="45299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 err="1">
                          <a:effectLst/>
                        </a:rPr>
                        <a:t>Heap</a:t>
                      </a:r>
                      <a:r>
                        <a:rPr lang="ru-RU" sz="1200" dirty="0">
                          <a:effectLst/>
                        </a:rPr>
                        <a:t> </a:t>
                      </a:r>
                      <a:r>
                        <a:rPr lang="ru-RU" sz="1200" dirty="0" err="1">
                          <a:effectLst/>
                        </a:rPr>
                        <a:t>Sort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A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нет рекурсивной структуры сортировки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прямое суммирование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594100534"/>
                  </a:ext>
                </a:extLst>
              </a:tr>
              <a:tr h="92351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 err="1">
                          <a:effectLst/>
                        </a:rPr>
                        <a:t>Shellsort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A, B, C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зависимость от последовательности шагов и входа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комбинаторный анализ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146335872"/>
                  </a:ext>
                </a:extLst>
              </a:tr>
              <a:tr h="45299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Tim Sort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B, C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адаптивные серии и стратегия слияния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амортизированный анализ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948559538"/>
                  </a:ext>
                </a:extLst>
              </a:tr>
              <a:tr h="452992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 err="1">
                          <a:effectLst/>
                        </a:rPr>
                        <a:t>Bubble</a:t>
                      </a:r>
                      <a:r>
                        <a:rPr lang="ru-RU" sz="1200" dirty="0">
                          <a:effectLst/>
                        </a:rPr>
                        <a:t> </a:t>
                      </a:r>
                      <a:r>
                        <a:rPr lang="ru-RU" sz="1200" dirty="0" err="1">
                          <a:effectLst/>
                        </a:rPr>
                        <a:t>Sort</a:t>
                      </a:r>
                      <a:r>
                        <a:rPr lang="ru-RU" sz="1200" dirty="0">
                          <a:effectLst/>
                        </a:rPr>
                        <a:t>, </a:t>
                      </a:r>
                      <a:r>
                        <a:rPr lang="ru-RU" sz="1200" dirty="0" err="1">
                          <a:effectLst/>
                        </a:rPr>
                        <a:t>Selection</a:t>
                      </a:r>
                      <a:r>
                        <a:rPr lang="ru-RU" sz="1200" dirty="0">
                          <a:effectLst/>
                        </a:rPr>
                        <a:t> </a:t>
                      </a:r>
                      <a:r>
                        <a:rPr lang="ru-RU" sz="1200" dirty="0" err="1">
                          <a:effectLst/>
                        </a:rPr>
                        <a:t>Sort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A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>
                          <a:effectLst/>
                        </a:rPr>
                        <a:t>итеративная структура</a:t>
                      </a:r>
                      <a:endParaRPr lang="ru-RU" sz="14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1000"/>
                        </a:spcAft>
                      </a:pPr>
                      <a:r>
                        <a:rPr lang="ru-RU" sz="1200" dirty="0">
                          <a:effectLst/>
                        </a:rPr>
                        <a:t>прямой подсчёт</a:t>
                      </a:r>
                      <a:endParaRPr lang="ru-RU" sz="14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9868909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4645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Бонусные алгоритмы которые анализируемы этим подходом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применим не только к сортировкам.</a:t>
            </a:r>
            <a:endParaRPr lang="en-US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11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5218220"/>
                  </p:ext>
                </p:extLst>
              </p:nvPr>
            </p:nvGraphicFramePr>
            <p:xfrm>
              <a:off x="838200" y="3086894"/>
              <a:ext cx="10515600" cy="190131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Алгоритм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Рекуррентность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Асимптотика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)=3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/2)+</m:t>
                                </m:r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𝑐𝑛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1.585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)=5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/3)+</m:t>
                                </m:r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𝑐𝑛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1.465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)=7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/2)+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𝑐𝑛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2.807</m:t>
                                    </m:r>
                                  </m:sup>
                                </m:sSup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5218220"/>
                  </p:ext>
                </p:extLst>
              </p:nvPr>
            </p:nvGraphicFramePr>
            <p:xfrm>
              <a:off x="838200" y="3086894"/>
              <a:ext cx="10515600" cy="1901316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Алгоритм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Рекуррентность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Асимптотика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00000" r="-100521" b="-20506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100000" r="-696" b="-20506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02564" r="-100521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02564" r="-696" b="-10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302564" r="-100521" b="-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302564" r="-696" b="-769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86154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Аналогия сортировки Бэтчера и FFT/NTT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Общий принцип: разбиение по чётности индексов.</a:t>
            </a:r>
          </a:p>
          <a:p>
            <a:pPr marL="0" indent="0">
              <a:buNone/>
            </a:pP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12</a:t>
            </a:fld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2342786"/>
                  </p:ext>
                </p:extLst>
              </p:nvPr>
            </p:nvGraphicFramePr>
            <p:xfrm>
              <a:off x="838200" y="2949734"/>
              <a:ext cx="10515600" cy="21031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коэффициенты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две подзадачи </a:t>
                          </a:r>
                          <a:r>
                            <a:rPr lang="en-US"/>
                            <a:t>n/2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две подзадачи </a:t>
                          </a:r>
                          <a:r>
                            <a:rPr lang="en-US"/>
                            <a:t>n/2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компараторы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операции «бабочки»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err="1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ru-RU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 dirty="0" err="1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err="1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ru-RU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 dirty="0" err="1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62342786"/>
                  </p:ext>
                </p:extLst>
              </p:nvPr>
            </p:nvGraphicFramePr>
            <p:xfrm>
              <a:off x="838200" y="2949734"/>
              <a:ext cx="10515600" cy="210312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коэффициенты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две подзадачи </a:t>
                          </a:r>
                          <a:r>
                            <a:rPr lang="en-US"/>
                            <a:t>n/2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две подзадачи </a:t>
                          </a:r>
                          <a:r>
                            <a:rPr lang="en-US"/>
                            <a:t>n/2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компараторы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операции «бабочки»</a:t>
                          </a:r>
                          <a:endParaRPr lang="ru-RU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485000" r="-100521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485000" r="-696" b="-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58703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Экспериментальная проверка: </a:t>
            </a:r>
            <a:r>
              <a:rPr lang="ru-RU" dirty="0" err="1"/>
              <a:t>Бэтчер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13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EE919E99-A38D-07F5-C7A8-EA5CAD786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72690"/>
            <a:ext cx="10515600" cy="3857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86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Сводный график алгоритмов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E04D4F9-1E36-1478-BD5E-60A4F9EF6D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4214" y="1825625"/>
            <a:ext cx="758357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38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 rtl="0">
                  <a:buNone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результаты: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Получены точные формулы для сортировки Бэтчера: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buNone/>
                </a:pPr>
                <a:r>
                  <a:rPr lang="en-US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/>
                      <m:t>M</m:t>
                    </m:r>
                    <m:d>
                      <m:dPr>
                        <m:ctrlPr>
                          <a:rPr lang="ru-RU" sz="1600"/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/>
                          <m:t>n</m:t>
                        </m:r>
                      </m:e>
                    </m:d>
                    <m:r>
                      <a:rPr lang="en-US" sz="1600" b="0" i="0"/>
                      <m:t>=</m:t>
                    </m:r>
                    <m:f>
                      <m:fPr>
                        <m:ctrlPr>
                          <a:rPr lang="ru-RU" sz="1600"/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/>
                          <m:t>n</m:t>
                        </m:r>
                        <m:r>
                          <a:rPr lang="en-US" sz="1600" b="0" i="0"/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/>
                          <m:t>lo</m:t>
                        </m:r>
                        <m:sSub>
                          <m:sSubPr>
                            <m:ctrlPr>
                              <a:rPr lang="ru-RU" sz="1600"/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/>
                              <m:t>g</m:t>
                            </m:r>
                          </m:e>
                          <m:sub>
                            <m:r>
                              <a:rPr lang="en-US" sz="1600" b="0" i="0"/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1600" b="0" i="0"/>
                          <m:t>n</m:t>
                        </m:r>
                      </m:num>
                      <m:den>
                        <m:r>
                          <a:rPr lang="en-US" sz="1600" b="0" i="0"/>
                          <m:t>2</m:t>
                        </m:r>
                      </m:den>
                    </m:f>
                    <m:r>
                      <a:rPr lang="en-US" sz="1600" b="0" i="0"/>
                      <m:t>−</m:t>
                    </m:r>
                    <m:f>
                      <m:fPr>
                        <m:ctrlPr>
                          <a:rPr lang="ru-RU" sz="1600"/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/>
                          <m:t>n</m:t>
                        </m:r>
                      </m:num>
                      <m:den>
                        <m:r>
                          <a:rPr lang="en-US" sz="1600" b="0" i="0"/>
                          <m:t>2</m:t>
                        </m:r>
                      </m:den>
                    </m:f>
                    <m:r>
                      <a:rPr lang="en-US" sz="1600" b="0" i="0"/>
                      <m:t>+ 1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𝑙𝑜</m:t>
                        </m:r>
                        <m:sSub>
                          <m:sSub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− 1</m:t>
                            </m:r>
                          </m:e>
                        </m:d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− 1</m:t>
                    </m:r>
                  </m:oMath>
                </a14:m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en-US" sz="1600" dirty="0">
                    <a:effectLst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+ 1</m:t>
                            </m:r>
                          </m:e>
                        </m:d>
                      </m:num>
                      <m:den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2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Выделены условия применимости метода раскрутки.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3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Показано, какие сортировки требуют других методов.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4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распространён на криптографические алгоритмы.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buFont typeface="+mj-lt"/>
                  <a:buAutoNum type="arabicPeriod" startAt="5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 подтвердил теоретические формулы.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14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0937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0E5AE-85F9-1C57-E3A5-F2EBC3D3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 проекта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22ABDE-B8FF-0C5C-5A8F-BB24A470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Фамилия Имя </a:t>
            </a:r>
            <a:r>
              <a:rPr lang="ru-RU" dirty="0" err="1"/>
              <a:t>Отчетство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54CC8B-6954-D31A-6C97-C46861D59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1" name="Объект 10" descr="Изображение выглядит как шаблон, Симметрия, прямоугольн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51E08F1-3031-E880-B68B-0B38488B8F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266" y="1585989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4176113867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225</TotalTime>
  <Words>1521</Words>
  <Application>Microsoft Office PowerPoint</Application>
  <PresentationFormat>Широкоэкранный</PresentationFormat>
  <Paragraphs>196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Aptos</vt:lpstr>
      <vt:lpstr>Arial</vt:lpstr>
      <vt:lpstr>Arial Black</vt:lpstr>
      <vt:lpstr>Arial Narrow</vt:lpstr>
      <vt:lpstr>Cambria Math</vt:lpstr>
      <vt:lpstr>Impact</vt:lpstr>
      <vt:lpstr>Times New Roman</vt:lpstr>
      <vt:lpstr>1_Тема Office</vt:lpstr>
      <vt:lpstr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vt:lpstr>
      <vt:lpstr>Актуальность темы</vt:lpstr>
      <vt:lpstr>Цель и задачи работы</vt:lpstr>
      <vt:lpstr>Объект исследования: сортировка Бэтчера</vt:lpstr>
      <vt:lpstr> Асимптотическая сложность сортировки Бэтчера</vt:lpstr>
      <vt:lpstr>Предмет исследования и выбранный метод</vt:lpstr>
      <vt:lpstr>Пример: раскрутка для операции слияния</vt:lpstr>
      <vt:lpstr>Необходимые условия применимости (разд. 2.3.1 ВКР)</vt:lpstr>
      <vt:lpstr>Соответствие классических сортировок условиям A–C</vt:lpstr>
      <vt:lpstr> Когда метод «как есть» не применим</vt:lpstr>
      <vt:lpstr>Бонусные алгоритмы которые анализируемы этим подходом</vt:lpstr>
      <vt:lpstr>Аналогия сортировки Бэтчера и FFT/NTT</vt:lpstr>
      <vt:lpstr>Экспериментальная проверка: Бэтчер</vt:lpstr>
      <vt:lpstr>Сводный график алгоритмов</vt:lpstr>
      <vt:lpstr>Выводы</vt:lpstr>
      <vt:lpstr>Исходный код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mitya much</dc:creator>
  <cp:lastModifiedBy>mitya much</cp:lastModifiedBy>
  <cp:revision>24</cp:revision>
  <dcterms:created xsi:type="dcterms:W3CDTF">2026-05-12T15:13:03Z</dcterms:created>
  <dcterms:modified xsi:type="dcterms:W3CDTF">2026-05-12T19:38:03Z</dcterms:modified>
</cp:coreProperties>
</file>