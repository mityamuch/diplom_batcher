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18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21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13.05.2026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13.05.2026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13.05.2026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13.05.2026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	</a:t>
            </a:r>
            <a:r>
              <a:rPr lang="ru-RU" sz="16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ru-RU" sz="16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определяется следующими обстоятельствами</a:t>
            </a:r>
            <a:r>
              <a:rPr lang="en-US" sz="16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  <a:endParaRPr lang="ru-RU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sz="16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	</a:t>
            </a:r>
            <a:r>
              <a:rPr lang="ru-RU" sz="16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1) Во-первых, возрастающей ролью параллельных сортировок и сортировочных сетей в современных программно-аппаратных системах: сортировка Бэтчера и родственные ей битонические схемы находят непосредственное применение в задачах, где последовательные сортировки оказываются неэффективными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16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2) </a:t>
            </a:r>
            <a:r>
              <a:rPr lang="ru-RU" sz="16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Во-вторых, отсутствием в доступной учебной и научной литературе систематизированного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областей, а границы применимости самого метода были бы явно сформулированы.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7877F83-DD0A-C6A0-7DEB-E2545D1D08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indent="0" algn="just">
                  <a:lnSpc>
                    <a:spcPct val="150000"/>
                  </a:lnSpc>
                  <a:spcAft>
                    <a:spcPts val="1000"/>
                  </a:spcAft>
                  <a:buNone/>
                </a:pPr>
                <a:r>
                  <a:rPr lang="en-US" sz="18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9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Цель работы — 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разработать и систематически применить единый метод асимптотического анализа, основанный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сложности; провести экспериментальную верификацию теоретических результатов. Для достижения поставленной цели в работе решаются следующие задачи: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Систематизировать теоретические основы асимптотического анализа алгоритмов сортировки</a:t>
                </a: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Провести полный математический анализ сложности сортировки Бэтчера: записать и решить рекуррентные соотношения для числа компараторов операции слияния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n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), полной сортировки </a:t>
                </a:r>
                <a14:m>
                  <m:oMath xmlns:m="http://schemas.openxmlformats.org/officeDocument/2006/math">
                    <m:r>
                      <a:rPr lang="en-US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900" i="1" kern="100" dirty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900" i="1" kern="100" dirty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900" i="1" kern="100" dirty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и глубины сети </a:t>
                </a:r>
                <a14:m>
                  <m:oMath xmlns:m="http://schemas.openxmlformats.org/officeDocument/2006/math">
                    <m:r>
                      <a:rPr lang="en-US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𝑑</m:t>
                    </m:r>
                    <m:r>
                      <a:rPr lang="ru-RU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_</m:t>
                    </m:r>
                    <m:r>
                      <a:rPr lang="en-US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 получить точные замкнутые формулы и их асимптотические оценки.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Применить тот же метод к классическим алгоритмам сортировки (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Quick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n-US" sz="1900" kern="100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Insertion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Heap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Исследовать границы применимости метода решения рекуррентных соотношений: сформулировать необходимые условия его применения, выявить алгоритмы, для которых требуются альтернативные методы анализа (вероятностный, амортизированный, комбинаторный, прямое суммирование), и обосновать выбор этих методов.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Распространить метод на алгоритмы, имеющие рекурсивную структуру и выявить структурные аналогии с сортировкой Бэтчера.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Разработать программную реализацию рассматриваемых алгоритмов сортировки на языке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Python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с подсчётом числа сравнений; провести машинный эксперимент и экспериментально верифицировать полученные замкнутые формулы на серии размеров входа </a:t>
                </a:r>
                <a14:m>
                  <m:oMath xmlns:m="http://schemas.openxmlformats.org/officeDocument/2006/math">
                    <m:r>
                      <a:rPr lang="en-US" sz="19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9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= </m:t>
                    </m:r>
                    <m:sSup>
                      <m:sSupPr>
                        <m:ctrlPr>
                          <a:rPr lang="ru-RU" sz="19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9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9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7877F83-DD0A-C6A0-7DEB-E2545D1D08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исследования: сортировка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160000"/>
                  </a:lnSpc>
                  <a:buNone/>
                </a:pPr>
                <a:r>
                  <a:rPr lang="en-US" sz="11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n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параллельной и аппаратной реализации и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1) Рекурсивно отсортировать левую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2) Рекурсивно отсортировать правую половину длины n/2.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3)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</a:p>
              <a:p>
                <a:pPr marL="0" indent="0">
                  <a:buNone/>
                </a:pP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n) устроена таким образом: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1) при n=2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0​,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1​)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	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2) при n&gt;2:</a:t>
                </a:r>
              </a:p>
              <a:p>
                <a:pPr marL="2571750" lvl="5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​;</a:t>
                </a:r>
              </a:p>
              <a:p>
                <a:pPr marL="2571750" lvl="5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m:rPr>
                        <m:sty m:val="p"/>
                      </m:rP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m:rPr>
                        <m:sty m:val="p"/>
                      </m:rP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m:rPr>
                        <m:sty m:val="p"/>
                      </m:rP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​;</a:t>
                </a:r>
              </a:p>
              <a:p>
                <a:pPr marL="2571750" lvl="5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ᵢ, 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ᵢ₊₁) 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для всех нечётных </a:t>
                </a:r>
                <a14:m>
                  <m:oMath xmlns:m="http://schemas.openxmlformats.org/officeDocument/2006/math"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𝑙𝑜𝑔</m:t>
                    </m:r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₂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−1)+1,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𝑛𝑙𝑜𝑔𝑛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𝑛𝑙𝑜</m:t>
                        </m:r>
                        <m:sSup>
                          <m:sSup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𝑙𝑜</m:t>
                            </m:r>
                            <m:sSup>
                              <m:sSupPr>
                                <m:ctrlP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𝑔</m:t>
                                </m:r>
                              </m:e>
                              <m:sup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𝑙𝑜</m:t>
                    </m:r>
                    <m:sSup>
                      <m:sSup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𝑔</m:t>
                        </m:r>
                      </m:e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 формула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𝑙𝑜</m:t>
                        </m:r>
                        <m:sSup>
                          <m:sSup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𝑙𝑜</m:t>
                            </m:r>
                            <m:sSup>
                              <m:sSupPr>
                                <m:ctrlP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𝑔</m:t>
                                </m:r>
                              </m:e>
                              <m:sup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ru-RU" sz="1800" i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log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ru-RU" sz="1800" b="1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rtl="0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вероятностный и амортизированный анализ.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хорошо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прозрачно показывает вклад каждого уровня рекурсии.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M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(n)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(пара элементов каждый раз упорядочивается операцией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max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 Рекуррентное соотношение: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a:rPr lang="ru-RU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r>
                        <a:rPr lang="ru-RU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M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(n)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k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</m:t>
                      </m:r>
                      <m:d>
                        <m:d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2ᵏ − 1</m:t>
                          </m:r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k=m−1: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𝑛𝑙𝑜𝑔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𝑑𝑆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t="-581" r="-603" b="-174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 (разд. 2.3.1 ВКР)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5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n должна сводиться к одной или нескольким подзадачам того же типа меньшего размера. Например, сортировка слиянием сводит сортировку массива длины n к сортировке двух массивов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𝒏</m:t>
                        </m:r>
                      </m:num>
                      <m:den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5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n,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5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n. В сортировке слиянием это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cn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 —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Θ(n).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32" t="-1681" r="-2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  <p:graphicFrame>
        <p:nvGraphicFramePr>
          <p:cNvPr id="12" name="Объект 11">
            <a:extLst>
              <a:ext uri="{FF2B5EF4-FFF2-40B4-BE49-F238E27FC236}">
                <a16:creationId xmlns:a16="http://schemas.microsoft.com/office/drawing/2014/main" id="{DE20148F-6EB6-E3AB-403C-5DCDBCF08E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0341977"/>
              </p:ext>
            </p:extLst>
          </p:nvPr>
        </p:nvGraphicFramePr>
        <p:xfrm>
          <a:off x="605396" y="1879250"/>
          <a:ext cx="9137984" cy="394399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23940">
                  <a:extLst>
                    <a:ext uri="{9D8B030D-6E8A-4147-A177-3AD203B41FA5}">
                      <a16:colId xmlns:a16="http://schemas.microsoft.com/office/drawing/2014/main" val="2972771461"/>
                    </a:ext>
                  </a:extLst>
                </a:gridCol>
                <a:gridCol w="1828511">
                  <a:extLst>
                    <a:ext uri="{9D8B030D-6E8A-4147-A177-3AD203B41FA5}">
                      <a16:colId xmlns:a16="http://schemas.microsoft.com/office/drawing/2014/main" val="2908776324"/>
                    </a:ext>
                  </a:extLst>
                </a:gridCol>
                <a:gridCol w="1828511">
                  <a:extLst>
                    <a:ext uri="{9D8B030D-6E8A-4147-A177-3AD203B41FA5}">
                      <a16:colId xmlns:a16="http://schemas.microsoft.com/office/drawing/2014/main" val="1968334037"/>
                    </a:ext>
                  </a:extLst>
                </a:gridCol>
                <a:gridCol w="1828511">
                  <a:extLst>
                    <a:ext uri="{9D8B030D-6E8A-4147-A177-3AD203B41FA5}">
                      <a16:colId xmlns:a16="http://schemas.microsoft.com/office/drawing/2014/main" val="2864858108"/>
                    </a:ext>
                  </a:extLst>
                </a:gridCol>
                <a:gridCol w="1828511">
                  <a:extLst>
                    <a:ext uri="{9D8B030D-6E8A-4147-A177-3AD203B41FA5}">
                      <a16:colId xmlns:a16="http://schemas.microsoft.com/office/drawing/2014/main" val="4120696970"/>
                    </a:ext>
                  </a:extLst>
                </a:gridCol>
              </a:tblGrid>
              <a:tr h="727783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Алгоритм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A: </a:t>
                      </a:r>
                      <a:r>
                        <a:rPr lang="ru-RU">
                          <a:effectLst/>
                        </a:rPr>
                        <a:t>рекурсия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B: </a:t>
                      </a:r>
                      <a:r>
                        <a:rPr lang="ru-RU">
                          <a:effectLst/>
                        </a:rPr>
                        <a:t>фиксированные размеры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C: </a:t>
                      </a:r>
                      <a:r>
                        <a:rPr lang="ru-RU">
                          <a:effectLst/>
                        </a:rPr>
                        <a:t>явная работа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Метод применим?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8527655"/>
                  </a:ext>
                </a:extLst>
              </a:tr>
              <a:tr h="536218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Бэтчера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75465"/>
                  </a:ext>
                </a:extLst>
              </a:tr>
              <a:tr h="30641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Merge Sort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6044621"/>
                  </a:ext>
                </a:extLst>
              </a:tr>
              <a:tr h="30641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Bitonic Sort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6821890"/>
                  </a:ext>
                </a:extLst>
              </a:tr>
              <a:tr h="995833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Quick Sort, </a:t>
                      </a:r>
                      <a:r>
                        <a:rPr lang="ru-RU">
                          <a:effectLst/>
                        </a:rPr>
                        <a:t>лучший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1411420"/>
                  </a:ext>
                </a:extLst>
              </a:tr>
              <a:tr h="766026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Quick Sort, </a:t>
                      </a:r>
                      <a:r>
                        <a:rPr lang="ru-RU">
                          <a:effectLst/>
                        </a:rPr>
                        <a:t>худший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да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7463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p:graphicFrame>
        <p:nvGraphicFramePr>
          <p:cNvPr id="11" name="Объект 10">
            <a:extLst>
              <a:ext uri="{FF2B5EF4-FFF2-40B4-BE49-F238E27FC236}">
                <a16:creationId xmlns:a16="http://schemas.microsoft.com/office/drawing/2014/main" id="{3486DF08-C118-CE32-DF9F-1101F9970D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3703654"/>
              </p:ext>
            </p:extLst>
          </p:nvPr>
        </p:nvGraphicFramePr>
        <p:xfrm>
          <a:off x="567559" y="1753126"/>
          <a:ext cx="10786240" cy="31884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96560">
                  <a:extLst>
                    <a:ext uri="{9D8B030D-6E8A-4147-A177-3AD203B41FA5}">
                      <a16:colId xmlns:a16="http://schemas.microsoft.com/office/drawing/2014/main" val="1611344132"/>
                    </a:ext>
                  </a:extLst>
                </a:gridCol>
                <a:gridCol w="2696560">
                  <a:extLst>
                    <a:ext uri="{9D8B030D-6E8A-4147-A177-3AD203B41FA5}">
                      <a16:colId xmlns:a16="http://schemas.microsoft.com/office/drawing/2014/main" val="503660173"/>
                    </a:ext>
                  </a:extLst>
                </a:gridCol>
                <a:gridCol w="2696560">
                  <a:extLst>
                    <a:ext uri="{9D8B030D-6E8A-4147-A177-3AD203B41FA5}">
                      <a16:colId xmlns:a16="http://schemas.microsoft.com/office/drawing/2014/main" val="1941540570"/>
                    </a:ext>
                  </a:extLst>
                </a:gridCol>
                <a:gridCol w="2696560">
                  <a:extLst>
                    <a:ext uri="{9D8B030D-6E8A-4147-A177-3AD203B41FA5}">
                      <a16:colId xmlns:a16="http://schemas.microsoft.com/office/drawing/2014/main" val="2122764893"/>
                    </a:ext>
                  </a:extLst>
                </a:gridCol>
              </a:tblGrid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Алгоритм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Нарушенное условие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Причина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Альтернативный метод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90475179"/>
                  </a:ext>
                </a:extLst>
              </a:tr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Quick </a:t>
                      </a:r>
                      <a:r>
                        <a:rPr lang="ru-RU" sz="1200" dirty="0" err="1">
                          <a:effectLst/>
                        </a:rPr>
                        <a:t>Sort</a:t>
                      </a:r>
                      <a:r>
                        <a:rPr lang="ru-RU" sz="1200" dirty="0">
                          <a:effectLst/>
                        </a:rPr>
                        <a:t>, средний случай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B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случайный размер подзадач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вероятностный анализ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89969963"/>
                  </a:ext>
                </a:extLst>
              </a:tr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 err="1">
                          <a:effectLst/>
                        </a:rPr>
                        <a:t>Heap</a:t>
                      </a:r>
                      <a:r>
                        <a:rPr lang="ru-RU" sz="1200" dirty="0">
                          <a:effectLst/>
                        </a:rPr>
                        <a:t> </a:t>
                      </a:r>
                      <a:r>
                        <a:rPr lang="ru-RU" sz="1200" dirty="0" err="1">
                          <a:effectLst/>
                        </a:rPr>
                        <a:t>Sort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A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нет рекурсивной структуры сортировки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прямое суммирование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94100534"/>
                  </a:ext>
                </a:extLst>
              </a:tr>
              <a:tr h="92351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 err="1">
                          <a:effectLst/>
                        </a:rPr>
                        <a:t>Shellsort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A, B, C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зависимость от последовательности шагов и входа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комбинаторный анализ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46335872"/>
                  </a:ext>
                </a:extLst>
              </a:tr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Tim Sort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B, C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адаптивные серии и стратегия слияния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амортизированный анализ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48559538"/>
                  </a:ext>
                </a:extLst>
              </a:tr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 err="1">
                          <a:effectLst/>
                        </a:rPr>
                        <a:t>Bubble</a:t>
                      </a:r>
                      <a:r>
                        <a:rPr lang="ru-RU" sz="1200" dirty="0">
                          <a:effectLst/>
                        </a:rPr>
                        <a:t> </a:t>
                      </a:r>
                      <a:r>
                        <a:rPr lang="ru-RU" sz="1200" dirty="0" err="1">
                          <a:effectLst/>
                        </a:rPr>
                        <a:t>Sort</a:t>
                      </a:r>
                      <a:r>
                        <a:rPr lang="ru-RU" sz="1200" dirty="0">
                          <a:effectLst/>
                        </a:rPr>
                        <a:t>, </a:t>
                      </a:r>
                      <a:r>
                        <a:rPr lang="ru-RU" sz="1200" dirty="0" err="1">
                          <a:effectLst/>
                        </a:rPr>
                        <a:t>Selection</a:t>
                      </a:r>
                      <a:r>
                        <a:rPr lang="ru-RU" sz="1200" dirty="0">
                          <a:effectLst/>
                        </a:rPr>
                        <a:t> </a:t>
                      </a:r>
                      <a:r>
                        <a:rPr lang="ru-RU" sz="1200" dirty="0" err="1">
                          <a:effectLst/>
                        </a:rPr>
                        <a:t>Sort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A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итеративная структура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прямой подсчёт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6890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Бонусные алгоритмы которые анализируемы этим подходом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5218220"/>
                  </p:ext>
                </p:extLst>
              </p:nvPr>
            </p:nvGraphicFramePr>
            <p:xfrm>
              <a:off x="838200" y="3086894"/>
              <a:ext cx="10515600" cy="190131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Рекуррентность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Асимптотика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/2)+</m:t>
                                </m:r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𝑐𝑛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)=5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/3)+</m:t>
                                </m:r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𝑐𝑛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/2)+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𝑐𝑛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5218220"/>
                  </p:ext>
                </p:extLst>
              </p:nvPr>
            </p:nvGraphicFramePr>
            <p:xfrm>
              <a:off x="838200" y="3086894"/>
              <a:ext cx="10515600" cy="190131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Рекуррентность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Асимптотика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00000" r="-100521" b="-205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00000" r="-696" b="-2050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02564" r="-100521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02564" r="-696" b="-10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302564" r="-100521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302564" r="-696" b="-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Аналогия сортировки Бэтчера и FFT/NTT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Общий принцип: разбиение по чётности индексов.</a:t>
            </a:r>
          </a:p>
          <a:p>
            <a:pPr marL="0" indent="0">
              <a:buNone/>
            </a:pP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2342786"/>
                  </p:ext>
                </p:extLst>
              </p:nvPr>
            </p:nvGraphicFramePr>
            <p:xfrm>
              <a:off x="838200" y="2949734"/>
              <a:ext cx="10515600" cy="21031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коэффициенты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две подзадачи </a:t>
                          </a:r>
                          <a:r>
                            <a:rPr lang="en-US"/>
                            <a:t>n/2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две подзадачи </a:t>
                          </a:r>
                          <a:r>
                            <a:rPr lang="en-US"/>
                            <a:t>n/2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компараторы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операции «бабочки»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err="1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ru-RU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 dirty="0" err="1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err="1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ru-RU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 dirty="0" err="1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2342786"/>
                  </p:ext>
                </p:extLst>
              </p:nvPr>
            </p:nvGraphicFramePr>
            <p:xfrm>
              <a:off x="838200" y="2949734"/>
              <a:ext cx="10515600" cy="21031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коэффициенты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две подзадачи </a:t>
                          </a:r>
                          <a:r>
                            <a:rPr lang="en-US"/>
                            <a:t>n/2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две подзадачи </a:t>
                          </a:r>
                          <a:r>
                            <a:rPr lang="en-US"/>
                            <a:t>n/2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компараторы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операции «бабочки»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485000" r="-100521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485000" r="-696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8703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Экспериментальная проверка: </a:t>
            </a:r>
            <a:r>
              <a:rPr lang="ru-RU" dirty="0" err="1"/>
              <a:t>Бэтчер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72690"/>
            <a:ext cx="10515600" cy="3857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Сводный график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4214" y="1825625"/>
            <a:ext cx="75835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rtl="0"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600" b="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>
                                <a:latin typeface="Cambria Math" panose="020405030504060302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𝑙𝑜</m:t>
                        </m:r>
                        <m:sSub>
                          <m:sSub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криптографические алгоритмы.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Фамилия Имя </a:t>
            </a:r>
            <a:r>
              <a:rPr lang="ru-RU" dirty="0" err="1"/>
              <a:t>Отчетство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1808</TotalTime>
  <Words>1516</Words>
  <Application>Microsoft Macintosh PowerPoint</Application>
  <PresentationFormat>Широкоэкранный</PresentationFormat>
  <Paragraphs>196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исследования: сортировка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 (разд. 2.3.1 ВКР)</vt:lpstr>
      <vt:lpstr>Соответствие классических сортировок условиям A–C</vt:lpstr>
      <vt:lpstr> Когда метод «как есть» не применим</vt:lpstr>
      <vt:lpstr>Бонусные алгоритмы которые анализируемы этим подходом</vt:lpstr>
      <vt:lpstr>Аналогия сортировки Бэтчера и FFT/NTT</vt:lpstr>
      <vt:lpstr>Экспериментальная проверка: Бэтчер</vt:lpstr>
      <vt:lpstr>Сводный график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dc:title>
  <dc:creator>mitya much</dc:creator>
  <cp:lastModifiedBy>Microsoft Office User</cp:lastModifiedBy>
  <cp:revision>25</cp:revision>
  <dcterms:created xsi:type="dcterms:W3CDTF">2026-05-12T15:13:03Z</dcterms:created>
  <dcterms:modified xsi:type="dcterms:W3CDTF">2026-05-14T16:54:26Z</dcterms:modified>
</cp:coreProperties>
</file>