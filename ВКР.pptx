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256" r:id="rId2"/>
    <p:sldId id="257" r:id="rId3"/>
    <p:sldId id="259" r:id="rId4"/>
    <p:sldId id="272" r:id="rId5"/>
    <p:sldId id="258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5758FB7-9AC5-4552-8A53-C91805E547FA}" styleName="Стиль из темы 1 - акцент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84E427A-3D55-4303-BF80-6455036E1DE7}" styleName="Стиль из темы 1 - акцент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75DCB02-9BB8-47FD-8907-85C794F793BA}" styleName="Стиль из темы 1 - акцент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109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2472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713541-B05E-4552-95DD-0156478D5135}" type="datetimeFigureOut">
              <a:rPr lang="ru-RU" smtClean="0"/>
              <a:t>22.06.2026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8B1E1E-DB43-415F-831B-5877A2B073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28121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9D40AE9E-7EAA-E19B-1449-CAD642E5A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338A3-B5FA-4892-8782-04A8FAC2DE2D}" type="datetime1">
              <a:rPr lang="ru-RU" smtClean="0"/>
              <a:t>22.06.2026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F9CA5C7-E0A8-D978-C348-04556224A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ВКР (б) студента Фамилия Имя Отчетство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315095A-9844-D13C-808D-CE4B8DF8C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151D6-1CE6-4546-836D-2A836D7A7EF2}" type="slidenum">
              <a:rPr lang="ru-RU" smtClean="0"/>
              <a:t>‹#›</a:t>
            </a:fld>
            <a:endParaRPr lang="ru-RU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CDE1E8BF-F447-4BD7-9682-FF3C6998DF1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8" name="Picture 14">
            <a:extLst>
              <a:ext uri="{FF2B5EF4-FFF2-40B4-BE49-F238E27FC236}">
                <a16:creationId xmlns:a16="http://schemas.microsoft.com/office/drawing/2014/main" id="{4C50BF7C-4E97-4AA8-AD92-A17FCFB91DD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086" y="273721"/>
            <a:ext cx="783084" cy="754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Рисунок 18" descr="Изображение выглядит как текст, знак, на открытом воздухе&#10;&#10;Автоматически созданное описание">
            <a:extLst>
              <a:ext uri="{FF2B5EF4-FFF2-40B4-BE49-F238E27FC236}">
                <a16:creationId xmlns:a16="http://schemas.microsoft.com/office/drawing/2014/main" id="{B1D4D02F-E9EF-4566-985F-312283518A0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2432" y="169511"/>
            <a:ext cx="756000" cy="756000"/>
          </a:xfrm>
          <a:prstGeom prst="rect">
            <a:avLst/>
          </a:prstGeom>
        </p:spPr>
      </p:pic>
      <p:sp>
        <p:nvSpPr>
          <p:cNvPr id="20" name="Заголовок 1">
            <a:extLst>
              <a:ext uri="{FF2B5EF4-FFF2-40B4-BE49-F238E27FC236}">
                <a16:creationId xmlns:a16="http://schemas.microsoft.com/office/drawing/2014/main" id="{09F07E0A-AE1C-462F-9625-1319AFB1D2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1" name="Подзаголовок 2">
            <a:extLst>
              <a:ext uri="{FF2B5EF4-FFF2-40B4-BE49-F238E27FC236}">
                <a16:creationId xmlns:a16="http://schemas.microsoft.com/office/drawing/2014/main" id="{734C9277-B29D-4E66-85F0-307D513EF8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9204407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2B9CB8-6D19-3AEA-1CF3-4B81C0F3A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70C0"/>
                </a:solidFill>
                <a:latin typeface="Impact" panose="020B0806030902050204" pitchFamily="34" charset="0"/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E00D62C-984D-0F4D-DEAB-2CF3FE8220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 Narrow" panose="020B0606020202030204" pitchFamily="34" charset="0"/>
              </a:defRPr>
            </a:lvl1pPr>
            <a:lvl2pPr>
              <a:defRPr>
                <a:latin typeface="Arial Narrow" panose="020B0606020202030204" pitchFamily="34" charset="0"/>
              </a:defRPr>
            </a:lvl2pPr>
            <a:lvl3pPr>
              <a:defRPr>
                <a:latin typeface="Arial Narrow" panose="020B0606020202030204" pitchFamily="34" charset="0"/>
              </a:defRPr>
            </a:lvl3pPr>
            <a:lvl4pPr>
              <a:defRPr>
                <a:latin typeface="Arial Narrow" panose="020B0606020202030204" pitchFamily="34" charset="0"/>
              </a:defRPr>
            </a:lvl4pPr>
            <a:lvl5pPr>
              <a:defRPr>
                <a:latin typeface="Arial Narrow" panose="020B0606020202030204" pitchFamily="34" charset="0"/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2BF4D9E-BB75-BC74-824E-29DC98C15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9DC75-0073-477D-B85F-B87BD2D9AA66}" type="datetime1">
              <a:rPr lang="ru-RU" smtClean="0"/>
              <a:t>22.06.2026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3A20BCE-D28D-1DD7-C5E8-C41A4CF9D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ВКР (б) студента Фамилия Имя Отчетство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E517AC7-DD1F-0F43-4EF6-526F2CA5C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0"/>
            <a:ext cx="2743200" cy="365125"/>
          </a:xfrm>
        </p:spPr>
        <p:txBody>
          <a:bodyPr/>
          <a:lstStyle>
            <a:lvl1pPr>
              <a:defRPr sz="2400">
                <a:latin typeface="Arial Black" panose="020B0A04020102020204" pitchFamily="34" charset="0"/>
              </a:defRPr>
            </a:lvl1pPr>
          </a:lstStyle>
          <a:p>
            <a:fld id="{2E0151D6-1CE6-4546-836D-2A836D7A7EF2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482305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E56F84-824A-FBD9-9C64-3D22056D8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1E4AC80-28FC-F758-5D7E-2EC25D680C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3685893-273D-03C2-D13A-2954ABDCB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6988C-DC8F-439B-AB31-15A4297BC55F}" type="datetime1">
              <a:rPr lang="ru-RU" smtClean="0"/>
              <a:t>22.06.2026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68C9142-6079-7C64-4476-57AD7E191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ВКР (б) студента Фамилия Имя Отчетство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5185AD7-245A-F056-6102-F20413E9D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151D6-1CE6-4546-836D-2A836D7A7E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4042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6C5F12-CB87-36C4-4C4A-03A51C257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D8216A7-D18C-122F-B769-3F585F5CB4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7D60A8F-08FB-2547-9884-ED546FEBEA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7702D29-B561-8B0F-F7E3-BA07DA157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422C7-A0AF-4B73-A3E0-92773191928A}" type="datetime1">
              <a:rPr lang="ru-RU" smtClean="0"/>
              <a:t>22.06.2026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54E2FB0-80C8-435C-72ED-FAFB3A933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ВКР (б) студента Фамилия Имя Отчетство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3BC351E-F527-8051-2F11-060401C54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151D6-1CE6-4546-836D-2A836D7A7E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4292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0BF19F-23EA-C82D-EAD6-E2F8F344A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154FC64-EBA9-C75D-C24B-FF92FE2FCF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02D1998-5AA5-2509-E83C-FC11F6C99D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A2B318A-6E8B-2EC3-6915-E9D51422EB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F64680F-351F-90E8-95EB-46569216E5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11C92B1-B12E-7F66-265B-49BFCED50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75EF7-06F9-47F2-ABB5-15A865F5A607}" type="datetime1">
              <a:rPr lang="ru-RU" smtClean="0"/>
              <a:t>22.06.2026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71031A4-4DA7-EB65-6EA7-92C1FA21C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ВКР (б) студента Фамилия Имя Отчетство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762D7A3-D027-D612-060D-ACA0287C3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151D6-1CE6-4546-836D-2A836D7A7E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24882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09EA5C-3DF8-36A7-E703-E4FFFEA4E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71BDCB2-79FC-34EF-A915-535B50EA3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33A35-A3AC-4FD5-9F62-E2E842F797D6}" type="datetime1">
              <a:rPr lang="ru-RU" smtClean="0"/>
              <a:t>22.06.2026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90BC0D6-FCA4-9CAB-9CBB-F7F6767B2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ВКР (б) студента Фамилия Имя Отчетство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6F7D13D-6456-ABF8-B3A8-3921C6014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151D6-1CE6-4546-836D-2A836D7A7E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68188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D76F736-8228-8360-7960-9C12F86E4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FB44B-5874-4EB6-914B-68491120A420}" type="datetime1">
              <a:rPr lang="ru-RU" smtClean="0"/>
              <a:t>22.06.2026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0F6EE67-52B4-9358-5E04-0F341C4EF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ВКР (б) студента Фамилия Имя Отчетство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F677A64-8ACA-91BC-7D2C-F29956189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151D6-1CE6-4546-836D-2A836D7A7E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7470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830B7F-2C37-1D18-709B-529A744D5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176B432-BB1E-BB7A-C5DE-9D9E436DE1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348938C-4B8C-C3B1-9004-69C7FA5B56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4FC399B-C28E-D9E5-6B69-496BA3811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9103B-4E77-49D0-9E40-D0F96ACD7E42}" type="datetime1">
              <a:rPr lang="ru-RU" smtClean="0"/>
              <a:t>22.06.2026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AC0009B-7CDD-8E58-D125-AD02AB0D9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ВКР (б) студента Фамилия Имя Отчетство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D9D335D-91B4-1EE5-A153-669529708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151D6-1CE6-4546-836D-2A836D7A7E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7378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841257-E821-2EFE-F4B2-568DBB710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2398E54-99A1-16FA-07E2-998E7BA729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C15B409-700F-50AB-70F7-1C63300EA9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851E04C-9663-2652-594F-5EF0FD521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F4974-916B-4771-921F-D6B7309972A3}" type="datetime1">
              <a:rPr lang="ru-RU" smtClean="0"/>
              <a:t>22.06.2026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8A2849C-236C-1692-1D7A-FEE0EB55C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ВКР (б) студента Фамилия Имя Отчетство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86D6689-8498-2FC2-24E4-757BD5BF2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151D6-1CE6-4546-836D-2A836D7A7E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7244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3090FF-039C-B667-C2D9-965CE4681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AD7DB03-D7A4-5F64-A77E-A6AEFCA3E7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89C5B19-B263-2CBA-FF72-E17088A6F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DF212-0581-4804-9196-08E59AD85A60}" type="datetime1">
              <a:rPr lang="ru-RU" smtClean="0"/>
              <a:t>22.06.2026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11A1671-6668-C911-E003-441052A93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ВКР (б) студента Фамилия Имя Отчетство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081DEC3-2D76-ED76-CC14-81086C933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151D6-1CE6-4546-836D-2A836D7A7E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11573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22173E8-8F12-1B34-A8FF-06866B9CD9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3E24B7C-FCF4-861C-FE27-F41A78A90A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982576D-E217-7A78-7D94-052D51584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33102-27BA-4101-BD19-C265B43D1861}" type="datetime1">
              <a:rPr lang="ru-RU" smtClean="0"/>
              <a:t>22.06.2026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505B6A5-A228-0529-4620-E999888DE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ВКР (б) студента Фамилия Имя Отчетство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BB7FF60-D08C-AC78-BADB-4DA7E6F35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151D6-1CE6-4546-836D-2A836D7A7E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6755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51142D4-F29C-B262-5AEE-2237EB601947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6356350"/>
            <a:ext cx="12192000" cy="51816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2D1B3A-92EF-0C7A-2BAC-538AFB488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2D6C7B3-39DD-B740-32FA-A16F19D822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B770914-14FB-2556-F151-0F04939F13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0070C0"/>
                </a:solidFill>
                <a:latin typeface="Arial Narrow" panose="020B0606020202030204" pitchFamily="34" charset="0"/>
              </a:defRPr>
            </a:lvl1pPr>
          </a:lstStyle>
          <a:p>
            <a:fld id="{2732E4CB-F021-4DE4-87F8-062D97973001}" type="datetime1">
              <a:rPr lang="ru-RU" smtClean="0"/>
              <a:t>22.06.2026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2B06EEE-6F5B-DB73-F3C0-AE8E08807A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0070C0"/>
                </a:solidFill>
                <a:latin typeface="Arial Narrow" panose="020B0606020202030204" pitchFamily="34" charset="0"/>
              </a:defRPr>
            </a:lvl1pPr>
          </a:lstStyle>
          <a:p>
            <a:r>
              <a:rPr lang="ru-RU"/>
              <a:t>ВКР (б) студента Фамилия Имя Отчетство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80D6AD2-8755-A3BF-02D2-A3ABBD7E39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31044" y="2986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rgbClr val="0070C0"/>
                </a:solidFill>
                <a:latin typeface="Arial Black" panose="020B0A04020102020204" pitchFamily="34" charset="0"/>
              </a:defRPr>
            </a:lvl1pPr>
          </a:lstStyle>
          <a:p>
            <a:fld id="{2E0151D6-1CE6-4546-836D-2A836D7A7EF2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7" name="Picture 14">
            <a:extLst>
              <a:ext uri="{FF2B5EF4-FFF2-40B4-BE49-F238E27FC236}">
                <a16:creationId xmlns:a16="http://schemas.microsoft.com/office/drawing/2014/main" id="{1E4547E6-9B94-D7C3-AABF-EF1819642B5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67" y="105046"/>
            <a:ext cx="783084" cy="754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Рисунок 7" descr="Изображение выглядит как текст, знак, на открытом воздухе&#10;&#10;Автоматически созданное описание">
            <a:extLst>
              <a:ext uri="{FF2B5EF4-FFF2-40B4-BE49-F238E27FC236}">
                <a16:creationId xmlns:a16="http://schemas.microsoft.com/office/drawing/2014/main" id="{58FAC22D-CBF1-C85B-B1A7-47273E92511E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67" y="945400"/>
            <a:ext cx="756000" cy="75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492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rgbClr val="0070C0"/>
          </a:solidFill>
          <a:latin typeface="Impact" panose="020B080603090205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 Narrow" panose="020B0606020202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 Narrow" panose="020B0606020202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 Narrow" panose="020B060602020203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 Narrow" panose="020B060602020203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 Narrow" panose="020B060602020203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FA427EA-5E22-B39B-273B-7274EA44F9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2870" y="1321393"/>
            <a:ext cx="10053763" cy="2928470"/>
          </a:xfrm>
        </p:spPr>
        <p:txBody>
          <a:bodyPr anchor="b">
            <a:normAutofit/>
          </a:bodyPr>
          <a:lstStyle/>
          <a:p>
            <a:r>
              <a:rPr lang="ru-RU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</a:rPr>
              <a:t>Выпускная квалификационная работа магистра</a:t>
            </a:r>
            <a:br>
              <a:rPr lang="ru-RU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</a:rPr>
            </a:br>
            <a:r>
              <a:rPr lang="ru-RU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</a:rPr>
              <a:t>на тему:</a:t>
            </a:r>
            <a:br>
              <a:rPr lang="ru-RU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</a:rPr>
            </a:br>
            <a:r>
              <a:rPr lang="ru-RU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Impact" panose="020B0806030902050204" pitchFamily="34" charset="0"/>
              </a:rPr>
              <a:t>«Асимптотический анализ алгоритма сортировки Бэтчера и его сравнение с классическими методами сортировки</a:t>
            </a:r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Impact" panose="020B0806030902050204" pitchFamily="34" charset="0"/>
              </a:rPr>
              <a:t>»</a:t>
            </a: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FB067939-1760-9AA1-F25F-01580DA39F4C}"/>
              </a:ext>
            </a:extLst>
          </p:cNvPr>
          <p:cNvSpPr txBox="1">
            <a:spLocks/>
          </p:cNvSpPr>
          <p:nvPr/>
        </p:nvSpPr>
        <p:spPr>
          <a:xfrm>
            <a:off x="1350682" y="4875589"/>
            <a:ext cx="10005951" cy="19158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sz="2000" b="1" dirty="0"/>
              <a:t>Студент группы М8О-209СВ-24: Муханов Дмитрий Ильич</a:t>
            </a:r>
            <a:endParaRPr lang="ru-RU" sz="20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ru-RU" sz="2000" b="1" dirty="0"/>
              <a:t>Научный руководитель: к.</a:t>
            </a:r>
            <a:r>
              <a:rPr lang="en-US" sz="2000" b="1" dirty="0"/>
              <a:t> </a:t>
            </a:r>
            <a:r>
              <a:rPr lang="ru-RU" sz="2000" b="1" dirty="0"/>
              <a:t>т.</a:t>
            </a:r>
            <a:r>
              <a:rPr lang="en-US" sz="2000" b="1" dirty="0"/>
              <a:t> </a:t>
            </a:r>
            <a:r>
              <a:rPr lang="en-US" sz="2000" b="1" dirty="0" err="1"/>
              <a:t>н</a:t>
            </a:r>
            <a:r>
              <a:rPr lang="ru-RU" sz="2000" b="1" dirty="0"/>
              <a:t> .</a:t>
            </a:r>
            <a:r>
              <a:rPr lang="en-US" sz="2000" b="1" dirty="0"/>
              <a:t>, </a:t>
            </a:r>
            <a:r>
              <a:rPr lang="en-US" sz="2000" b="1" dirty="0" err="1"/>
              <a:t>д</a:t>
            </a:r>
            <a:r>
              <a:rPr lang="ru-RU" sz="2000" b="1" dirty="0" err="1"/>
              <a:t>оцент</a:t>
            </a:r>
            <a:r>
              <a:rPr lang="ru-RU" sz="2000" b="1" dirty="0"/>
              <a:t>,</a:t>
            </a:r>
            <a:r>
              <a:rPr lang="en-US" sz="2000" b="1" dirty="0"/>
              <a:t> </a:t>
            </a:r>
            <a:r>
              <a:rPr lang="ru-RU" sz="2000" b="1" dirty="0"/>
              <a:t>доцент кафедры 806 </a:t>
            </a:r>
            <a:r>
              <a:rPr lang="ru-RU" sz="2000" dirty="0"/>
              <a:t>Романенков Александр Михайлович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ru-RU" sz="2000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ru-RU" sz="2000" dirty="0"/>
              <a:t>Москва – 2026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D28F94-4E2D-7F4A-064D-41DD0B44ACA9}"/>
              </a:ext>
            </a:extLst>
          </p:cNvPr>
          <p:cNvSpPr txBox="1"/>
          <p:nvPr/>
        </p:nvSpPr>
        <p:spPr>
          <a:xfrm>
            <a:off x="1509690" y="216967"/>
            <a:ext cx="976312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Arial Narrow" panose="020B0606020202030204" pitchFamily="34" charset="0"/>
              </a:rPr>
              <a:t>Московский авиационный институт (национальный исследовательский университет)</a:t>
            </a:r>
          </a:p>
          <a:p>
            <a:pPr algn="ctr"/>
            <a:endParaRPr lang="ru-RU" dirty="0">
              <a:solidFill>
                <a:schemeClr val="bg1"/>
              </a:solidFill>
              <a:latin typeface="Arial Narrow" panose="020B0606020202030204" pitchFamily="34" charset="0"/>
            </a:endParaRPr>
          </a:p>
          <a:p>
            <a:pPr algn="ctr"/>
            <a:r>
              <a:rPr lang="ru-RU" sz="2000" dirty="0">
                <a:solidFill>
                  <a:schemeClr val="bg1"/>
                </a:solidFill>
                <a:latin typeface="Arial Narrow" panose="020B0606020202030204" pitchFamily="34" charset="0"/>
              </a:rPr>
              <a:t>Институт № 8 «Компьютерные науки и прикладная математика»</a:t>
            </a:r>
          </a:p>
          <a:p>
            <a:pPr algn="ctr"/>
            <a:endParaRPr lang="ru-RU" sz="2000" dirty="0">
              <a:solidFill>
                <a:schemeClr val="bg1"/>
              </a:solidFill>
              <a:latin typeface="Arial Narrow" panose="020B0606020202030204" pitchFamily="34" charset="0"/>
            </a:endParaRPr>
          </a:p>
          <a:p>
            <a:pPr algn="ctr"/>
            <a:r>
              <a:rPr lang="ru-RU" sz="2000" dirty="0">
                <a:solidFill>
                  <a:schemeClr val="bg1"/>
                </a:solidFill>
                <a:latin typeface="Arial Narrow" panose="020B0606020202030204" pitchFamily="34" charset="0"/>
              </a:rPr>
              <a:t>Кафедра № 806</a:t>
            </a:r>
            <a:endParaRPr lang="ru-RU" sz="20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36299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8CA085-CB2E-7E01-C20A-93CC4FEEB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Актуальность темы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AE23451-EE1F-73EA-B32F-E69F97E3AA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Актуальность темы 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Не существует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в доступной учебной и научной литературе систематизированно</a:t>
            </a:r>
            <a:r>
              <a:rPr lang="ru-RU" sz="1800" kern="100" dirty="0">
                <a:latin typeface="Times New Roman" panose="02020603050405020304" pitchFamily="18" charset="0"/>
                <a:ea typeface="Calibri" panose="020F0502020204030204" pitchFamily="34" charset="0"/>
              </a:rPr>
              <a:t>го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изложения, в котором единым методом рекуррентных соотношений анализировались бы как сортировочные сети, так и широкий класс классических алгоритмов сортировки и алгоритмы смежных прикладных областей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  <a:endParaRPr lang="ru-RU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800" kern="100" dirty="0">
                <a:latin typeface="Times New Roman" panose="02020603050405020304" pitchFamily="18" charset="0"/>
                <a:ea typeface="Calibri" panose="020F0502020204030204" pitchFamily="34" charset="0"/>
              </a:rPr>
              <a:t>2.</a:t>
            </a:r>
            <a:r>
              <a:rPr lang="ru-RU" sz="1800" kern="100" dirty="0">
                <a:latin typeface="Times New Roman" panose="02020603050405020304" pitchFamily="18" charset="0"/>
                <a:ea typeface="Calibri" panose="020F0502020204030204" pitchFamily="34" charset="0"/>
              </a:rPr>
              <a:t> Рост объёмов данных и развитие параллельных вычислительных систем повышают интерес к сортировочным сетям, так как они имеют фиксированную структуру сравнений и хорошо подходят для параллельной реализации.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4A2A4D5-4006-16F5-EC17-DCB6F423E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ВКР (м) студента Муханова Дмитрия Ильича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AFCABE1-6F41-7EE7-2525-FF2DD89AD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151D6-1CE6-4546-836D-2A836D7A7EF2}" type="slidenum">
              <a:rPr lang="ru-RU" smtClean="0"/>
              <a:pPr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214108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EF03A6-2352-7272-03B2-199F38EB6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 и задачи работы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7877F83-DD0A-C6A0-7DEB-E2545D1D08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indent="0" algn="just">
              <a:lnSpc>
                <a:spcPct val="160000"/>
              </a:lnSpc>
              <a:spcAft>
                <a:spcPts val="1000"/>
              </a:spcAft>
              <a:buNone/>
            </a:pPr>
            <a:r>
              <a:rPr lang="ru-RU" sz="19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Цель работы —</a:t>
            </a:r>
            <a:r>
              <a:rPr lang="en-US" sz="19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9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примен</a:t>
            </a:r>
            <a:r>
              <a:rPr lang="ru-RU" sz="19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ение</a:t>
            </a:r>
            <a:r>
              <a:rPr lang="ru-RU" sz="19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еди</a:t>
            </a:r>
            <a:r>
              <a:rPr lang="ru-RU" sz="19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ного</a:t>
            </a:r>
            <a:r>
              <a:rPr lang="ru-RU" sz="19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метода асимптотического анализа, основанного на решении рекуррентных соотношений, к чётно-нечётной сортировке слиянием Бэтчера и родственным ей алгоритмам; получить точные замкнутые формулы их сложности</a:t>
            </a:r>
            <a:r>
              <a:rPr lang="en-US" sz="19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ru-RU" sz="19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Для достижения поставленной цели в работе решаются следующие задачи:</a:t>
            </a:r>
            <a:endParaRPr lang="ru-RU" sz="19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60000"/>
              </a:lnSpc>
              <a:buFont typeface="+mj-lt"/>
              <a:buAutoNum type="arabicPeriod"/>
            </a:pPr>
            <a:r>
              <a:rPr lang="ru-RU" sz="19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Систематизация методов анализа.</a:t>
            </a:r>
          </a:p>
          <a:p>
            <a:pPr marL="342900" lvl="0" indent="-342900" algn="just">
              <a:lnSpc>
                <a:spcPct val="160000"/>
              </a:lnSpc>
              <a:buFont typeface="+mj-lt"/>
              <a:buAutoNum type="arabicPeriod"/>
            </a:pPr>
            <a:r>
              <a:rPr lang="ru-RU" sz="19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Получение рекуррентного соотношения</a:t>
            </a:r>
            <a:r>
              <a:rPr lang="ru-RU" sz="19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для сортировки Бэтчера.</a:t>
            </a:r>
          </a:p>
          <a:p>
            <a:pPr marL="342900" lvl="0" indent="-342900" algn="just">
              <a:lnSpc>
                <a:spcPct val="160000"/>
              </a:lnSpc>
              <a:buFont typeface="+mj-lt"/>
              <a:buAutoNum type="arabicPeriod"/>
            </a:pPr>
            <a:r>
              <a:rPr lang="ru-RU" sz="19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Сравнение с классическими сортировками.</a:t>
            </a:r>
          </a:p>
          <a:p>
            <a:pPr marL="342900" lvl="0" indent="-342900" algn="just">
              <a:lnSpc>
                <a:spcPct val="160000"/>
              </a:lnSpc>
              <a:buFont typeface="+mj-lt"/>
              <a:buAutoNum type="arabicPeriod"/>
            </a:pPr>
            <a:r>
              <a:rPr lang="ru-RU" sz="19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Определение границ применимости метода.</a:t>
            </a:r>
          </a:p>
          <a:p>
            <a:pPr marL="342900" lvl="0" indent="-342900" algn="just">
              <a:lnSpc>
                <a:spcPct val="160000"/>
              </a:lnSpc>
              <a:buFont typeface="+mj-lt"/>
              <a:buAutoNum type="arabicPeriod"/>
            </a:pPr>
            <a:r>
              <a:rPr lang="ru-RU" sz="19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Расширение подхода на алгоритмы </a:t>
            </a:r>
            <a:r>
              <a:rPr lang="ru-RU" sz="19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из вычислительной алгебры</a:t>
            </a:r>
            <a:r>
              <a:rPr lang="ru-RU" sz="19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 algn="just">
              <a:lnSpc>
                <a:spcPct val="160000"/>
              </a:lnSpc>
              <a:buFont typeface="+mj-lt"/>
              <a:buAutoNum type="arabicPeriod"/>
            </a:pPr>
            <a:r>
              <a:rPr lang="ru-RU" sz="19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Экспериментальная проверка формул.</a:t>
            </a:r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EF83C26-530B-0FEB-CBA1-26A45D4D6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ВКР (м) студента Муханова Дмитрия Ильича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F58D7BF-EEF6-A101-6867-4E07799F8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151D6-1CE6-4546-836D-2A836D7A7EF2}" type="slidenum">
              <a:rPr lang="ru-RU" smtClean="0"/>
              <a:pPr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085920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B8C879-B460-D9C5-5E56-AD7B312A9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Объект и предмет исследования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4991026-8C75-B11E-7CA1-FC201537B3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rtl="0">
              <a:buNone/>
            </a:pPr>
            <a:r>
              <a:rPr lang="ru-RU" sz="20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Объект исследования:</a:t>
            </a:r>
            <a:r>
              <a:rPr lang="ru-RU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алгоритмы сортировки</a:t>
            </a:r>
            <a:r>
              <a:rPr lang="en-US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другие алгоритмы парадигмы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разделяй и властвуй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rtl="0">
              <a:buNone/>
            </a:pPr>
            <a:r>
              <a:rPr lang="ru-RU" sz="20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Предмет исследования:</a:t>
            </a:r>
            <a:r>
              <a:rPr lang="ru-RU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методы асимптотического анализа сложности алгоритмов сортировки на основе рекуррентных соотношений.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rtl="0">
              <a:buNone/>
            </a:pPr>
            <a:r>
              <a:rPr lang="ru-RU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 работе рассматриваются: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Font typeface="Arial" panose="020B0604020202020204" pitchFamily="34" charset="0"/>
              <a:buChar char="•"/>
            </a:pPr>
            <a:r>
              <a:rPr lang="ru-RU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сортировка Бэтчера;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Font typeface="Arial" panose="020B0604020202020204" pitchFamily="34" charset="0"/>
              <a:buChar char="•"/>
            </a:pPr>
            <a:r>
              <a:rPr lang="ru-RU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классические алгоритмы сортировки;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Font typeface="Arial" panose="020B0604020202020204" pitchFamily="34" charset="0"/>
              <a:buChar char="•"/>
            </a:pPr>
            <a:r>
              <a:rPr lang="ru-RU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границы применимости метода рекуррентных соотношений;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Font typeface="Arial" panose="020B0604020202020204" pitchFamily="34" charset="0"/>
              <a:buChar char="•"/>
            </a:pPr>
            <a:r>
              <a:rPr lang="ru-RU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экспериментальная проверка теоретических оценок.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A9BB233-74DE-301B-A3CF-DFBEA9BE7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ВКР (б) студента Фамилия Имя Отчетство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566B68E-E61F-85B6-6F68-96C791844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151D6-1CE6-4546-836D-2A836D7A7EF2}" type="slidenum">
              <a:rPr lang="ru-RU" smtClean="0"/>
              <a:pPr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027375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50BDBA-10BF-9E23-929C-C568EAFDD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Устройство сортировки Бэтчера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00CEFD8-128C-03B1-85C3-572B036AC88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9079"/>
                <a:ext cx="10683240" cy="4877884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ru-RU" sz="1200" kern="1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Это один из классических примеров сортировочной сети: для каждого </a:t>
                </a:r>
                <a14:m>
                  <m:oMath xmlns:m="http://schemas.openxmlformats.org/officeDocument/2006/math">
                    <m:r>
                      <a:rPr lang="ru-RU" sz="1200" i="1" kern="10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ru-RU" sz="1200" kern="1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задаётся фиксированная последовательность компараторов (пары индексов). Порядок сравнений не зависит от значений ключей, поэтому число сравнений одинаково в лучшем, среднем и худшем случаях — удобно для строгого анализа.</a:t>
                </a:r>
                <a:r>
                  <a:rPr lang="en-US" sz="1200" kern="1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sz="1200" kern="1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Полная чётно‑нечётная сортировка слиянием (</a:t>
                </a:r>
                <a:r>
                  <a:rPr lang="ru-RU" sz="1200" kern="100" dirty="0" err="1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Odd‑Even</a:t>
                </a:r>
                <a:r>
                  <a:rPr lang="ru-RU" sz="1200" kern="1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sz="1200" kern="100" dirty="0" err="1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Merge</a:t>
                </a:r>
                <a:r>
                  <a:rPr lang="ru-RU" sz="1200" kern="1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sz="1200" kern="100" dirty="0" err="1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Sort</a:t>
                </a:r>
                <a:r>
                  <a:rPr lang="ru-RU" sz="1200" kern="1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) устроена по принципу «сортировка через слияние»: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ru-RU" sz="1200" kern="1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1</a:t>
                </a:r>
                <a:r>
                  <a:rPr lang="en-US" sz="1200" kern="1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</a:t>
                </a:r>
                <a:r>
                  <a:rPr lang="ru-RU" sz="1200" kern="1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Рекурсивно отсортировать левую половину длины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sz="1200" i="1" kern="100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ru-RU" sz="1200" i="1" kern="100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𝑛</m:t>
                        </m:r>
                      </m:num>
                      <m:den>
                        <m:r>
                          <a:rPr lang="ru-RU" sz="1200" i="1" kern="100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ru-RU" sz="1200" kern="1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ru-RU" sz="1200" kern="1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2</a:t>
                </a:r>
                <a:r>
                  <a:rPr lang="en-US" sz="1200" kern="1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</a:t>
                </a:r>
                <a:r>
                  <a:rPr lang="ru-RU" sz="1200" kern="1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Рекурсивно отсортировать правую половину длины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sz="1200" i="1" kern="100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ru-RU" sz="1200" i="1" kern="100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𝑛</m:t>
                        </m:r>
                      </m:num>
                      <m:den>
                        <m:r>
                          <a:rPr lang="ru-RU" sz="1200" i="1" kern="100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ru-RU" sz="1200" kern="1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ru-RU" sz="1200" kern="1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3</a:t>
                </a:r>
                <a:r>
                  <a:rPr lang="en-US" sz="1200" kern="1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</a:t>
                </a:r>
                <a:r>
                  <a:rPr lang="ru-RU" sz="1200" kern="1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К двум уже отсортированным под-массивам применить операцию </a:t>
                </a:r>
                <a:r>
                  <a:rPr lang="ru-RU" sz="1200" kern="100" dirty="0" err="1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Odd‑Even</a:t>
                </a:r>
                <a:r>
                  <a:rPr lang="ru-RU" sz="1200" kern="1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sz="1200" kern="100" dirty="0" err="1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Merge</a:t>
                </a:r>
                <a:r>
                  <a:rPr lang="ru-RU" sz="1200" kern="1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(чётно‑нечётное слияние).</a:t>
                </a:r>
                <a:r>
                  <a:rPr lang="en-US" sz="1200" kern="1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	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ru-RU" sz="1200" kern="1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Операция </a:t>
                </a:r>
                <a:r>
                  <a:rPr lang="ru-RU" sz="1200" kern="100" dirty="0" err="1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Odd‑Even</a:t>
                </a:r>
                <a:r>
                  <a:rPr lang="ru-RU" sz="1200" kern="1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sz="1200" kern="100" dirty="0" err="1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Merge</a:t>
                </a:r>
                <a:r>
                  <a:rPr lang="ru-RU" sz="1200" kern="1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(слияние двух отсортированных половин одного массива длины </a:t>
                </a:r>
                <a14:m>
                  <m:oMath xmlns:m="http://schemas.openxmlformats.org/officeDocument/2006/math">
                    <m:r>
                      <a:rPr lang="ru-RU" sz="1200" i="1" kern="10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ru-RU" sz="1200" kern="1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) устроена таким образом: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ru-RU" sz="1200" kern="1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1</a:t>
                </a:r>
                <a:r>
                  <a:rPr lang="en-US" sz="1200" kern="1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</a:t>
                </a:r>
                <a:r>
                  <a:rPr lang="ru-RU" sz="1200" kern="1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при </a:t>
                </a:r>
                <a14:m>
                  <m:oMath xmlns:m="http://schemas.openxmlformats.org/officeDocument/2006/math">
                    <m:r>
                      <a:rPr lang="ru-RU" sz="1200" i="1" kern="10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ru-RU" sz="1200" i="1" kern="10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=2</m:t>
                    </m:r>
                  </m:oMath>
                </a14:m>
                <a:r>
                  <a:rPr lang="ru-RU" sz="1200" kern="1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выполняется одно сравнение </a:t>
                </a:r>
                <a14:m>
                  <m:oMath xmlns:m="http://schemas.openxmlformats.org/officeDocument/2006/math">
                    <m:r>
                      <a:rPr lang="ru-RU" sz="1200" kern="10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sz="1200" i="1" kern="100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200" b="0" i="1" kern="100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ru-RU" sz="1200" b="0" i="1" kern="100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ru-RU" sz="1200" b="0" i="1" kern="10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​,</m:t>
                    </m:r>
                    <m:sSub>
                      <m:sSubPr>
                        <m:ctrlPr>
                          <a:rPr lang="en-US" sz="1200" i="1" kern="100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200" b="0" i="1" kern="100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ru-RU" sz="1200" b="0" i="1" kern="100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ru-RU" sz="1200" kern="10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​)</m:t>
                    </m:r>
                  </m:oMath>
                </a14:m>
                <a:endParaRPr lang="ru-RU" sz="1200" kern="1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lvl="0" indent="0">
                  <a:lnSpc>
                    <a:spcPct val="150000"/>
                  </a:lnSpc>
                  <a:buSzPts val="1000"/>
                  <a:buNone/>
                  <a:tabLst>
                    <a:tab pos="457200" algn="l"/>
                  </a:tabLst>
                </a:pPr>
                <a:r>
                  <a:rPr lang="ru-RU" sz="1200" kern="1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2</a:t>
                </a:r>
                <a:r>
                  <a:rPr lang="en-US" sz="1200" kern="1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</a:t>
                </a:r>
                <a:r>
                  <a:rPr lang="ru-RU" sz="1200" kern="1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при </a:t>
                </a:r>
                <a14:m>
                  <m:oMath xmlns:m="http://schemas.openxmlformats.org/officeDocument/2006/math">
                    <m:r>
                      <a:rPr lang="ru-RU" sz="1200" i="1" kern="10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ru-RU" sz="1200" i="1" kern="10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&gt;2</m:t>
                    </m:r>
                  </m:oMath>
                </a14:m>
                <a:r>
                  <a:rPr lang="ru-RU" sz="1200" kern="1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742950" lvl="1" indent="-285750" algn="just">
                  <a:lnSpc>
                    <a:spcPct val="150000"/>
                  </a:lnSpc>
                  <a:tabLst>
                    <a:tab pos="914400" algn="l"/>
                  </a:tabLst>
                </a:pPr>
                <a:r>
                  <a:rPr lang="ru-RU" sz="1200" kern="1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рекурсивно применяется операция чётно-нечётного слияния длины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sz="1200" i="1" kern="100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ru-RU" sz="1200" kern="100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𝑛</m:t>
                        </m:r>
                      </m:num>
                      <m:den>
                        <m:r>
                          <a:rPr lang="ru-RU" sz="1200" kern="100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ru-RU" sz="1200" kern="1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к подпоследовательности элементов с чётными индексами </a:t>
                </a:r>
                <a14:m>
                  <m:oMath xmlns:m="http://schemas.openxmlformats.org/officeDocument/2006/math">
                    <m:r>
                      <a:rPr lang="ru-RU" sz="1200" i="1" kern="10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ru-RU" sz="1200" i="1" kern="10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₀, </m:t>
                    </m:r>
                    <m:r>
                      <a:rPr lang="ru-RU" sz="1200" i="1" kern="10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ru-RU" sz="1200" i="1" kern="10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₂, </m:t>
                    </m:r>
                    <m:r>
                      <a:rPr lang="ru-RU" sz="1200" i="1" kern="10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ru-RU" sz="1200" i="1" kern="10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₄, …, </m:t>
                    </m:r>
                    <m:r>
                      <a:rPr lang="ru-RU" sz="1200" i="1" kern="10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ru-RU" sz="1200" i="1" kern="10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ₙ₋₂</m:t>
                    </m:r>
                  </m:oMath>
                </a14:m>
                <a:r>
                  <a:rPr lang="ru-RU" sz="1200" i="1" kern="1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​</a:t>
                </a:r>
                <a:r>
                  <a:rPr lang="ru-RU" sz="1200" kern="1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;</a:t>
                </a:r>
              </a:p>
              <a:p>
                <a:pPr marL="742950" lvl="1" indent="-285750" algn="just">
                  <a:lnSpc>
                    <a:spcPct val="150000"/>
                  </a:lnSpc>
                  <a:tabLst>
                    <a:tab pos="914400" algn="l"/>
                  </a:tabLst>
                </a:pPr>
                <a:r>
                  <a:rPr lang="ru-RU" sz="1200" kern="1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рекурсивно применяется операция чётно-нечётного слияния длины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sz="1200" i="1" kern="100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ru-RU" sz="1200" kern="100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𝑛</m:t>
                        </m:r>
                      </m:num>
                      <m:den>
                        <m:r>
                          <a:rPr lang="ru-RU" sz="1200" kern="100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ru-RU" sz="1200" kern="1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 к подпоследовательности элементов с нечётными индексами </a:t>
                </a:r>
                <a14:m>
                  <m:oMath xmlns:m="http://schemas.openxmlformats.org/officeDocument/2006/math">
                    <m:r>
                      <a:rPr lang="ru-RU" sz="1200" b="0" i="1" kern="10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ru-RU" sz="1200" b="0" i="1" kern="10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₁, </m:t>
                    </m:r>
                    <m:r>
                      <a:rPr lang="ru-RU" sz="1200" b="0" i="1" kern="10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ru-RU" sz="1200" b="0" i="1" kern="10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₃, </m:t>
                    </m:r>
                    <m:r>
                      <a:rPr lang="ru-RU" sz="1200" b="0" i="1" kern="10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ru-RU" sz="1200" b="0" i="1" kern="10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₅, …, </m:t>
                    </m:r>
                    <m:r>
                      <a:rPr lang="ru-RU" sz="1200" b="0" i="1" kern="10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ru-RU" sz="1200" b="0" i="1" kern="10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ₙ₋₁</m:t>
                    </m:r>
                  </m:oMath>
                </a14:m>
                <a:r>
                  <a:rPr lang="ru-RU" sz="1200" i="1" kern="1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​</a:t>
                </a:r>
                <a:r>
                  <a:rPr lang="ru-RU" sz="1200" kern="1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;</a:t>
                </a:r>
              </a:p>
              <a:p>
                <a:pPr marL="742950" lvl="1" indent="-285750" algn="just">
                  <a:lnSpc>
                    <a:spcPct val="150000"/>
                  </a:lnSpc>
                  <a:tabLst>
                    <a:tab pos="914400" algn="l"/>
                  </a:tabLst>
                </a:pPr>
                <a:r>
                  <a:rPr lang="ru-RU" sz="1200" kern="1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выполняется серия попарных сравнений </a:t>
                </a:r>
                <a14:m>
                  <m:oMath xmlns:m="http://schemas.openxmlformats.org/officeDocument/2006/math">
                    <m:r>
                      <a:rPr lang="ru-RU" sz="1200" i="1" kern="10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sz="1200" b="0" i="1" kern="10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2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200" b="0" i="1" kern="10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ru-RU" sz="1200" i="1" kern="10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 </m:t>
                    </m:r>
                    <m:sSub>
                      <m:sSubPr>
                        <m:ctrlPr>
                          <a:rPr lang="en-US" sz="1200" b="0" i="1" kern="10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200" b="0" i="1" kern="10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ru-RU" sz="12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200" b="0" i="1" kern="10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sz="1200" b="0" i="1" kern="10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+1</m:t>
                        </m:r>
                      </m:sub>
                    </m:sSub>
                    <m:r>
                      <a:rPr lang="ru-RU" sz="1200" i="1" kern="10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 </m:t>
                    </m:r>
                  </m:oMath>
                </a14:m>
                <a:r>
                  <a:rPr lang="ru-RU" sz="1200" i="1" kern="1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sz="1200" kern="1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для всех нечётных </a:t>
                </a:r>
                <a14:m>
                  <m:oMath xmlns:m="http://schemas.openxmlformats.org/officeDocument/2006/math">
                    <m:r>
                      <a:rPr lang="ru-RU" sz="1200" i="1" kern="10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ru-RU" sz="1200" i="1" kern="10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=1,3,5,…,</m:t>
                    </m:r>
                    <m:r>
                      <a:rPr lang="ru-RU" sz="1200" i="1" kern="10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ru-RU" sz="1200" i="1" kern="10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−3</m:t>
                    </m:r>
                  </m:oMath>
                </a14:m>
                <a:r>
                  <a:rPr lang="ru-RU" sz="1800" kern="1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:endParaRPr lang="ru-RU" sz="1100" kern="1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00CEFD8-128C-03B1-85C3-572B036AC8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9079"/>
                <a:ext cx="10683240" cy="4877884"/>
              </a:xfrm>
              <a:blipFill>
                <a:blip r:embed="rId2"/>
                <a:stretch>
                  <a:fillRect l="-57" b="-25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925DB78-19D7-65BE-0456-469E827F2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ВКР (м) студента Муханова Дмитрия Ильича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F14D21B-6418-AB2B-D943-6DAD1BB04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151D6-1CE6-4546-836D-2A836D7A7EF2}" type="slidenum">
              <a:rPr lang="ru-RU" smtClean="0"/>
              <a:pPr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238000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50BDBA-10BF-9E23-929C-C568EAFDD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 Асимптотическая сложность сортировки Бэтчера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00CEFD8-128C-03B1-85C3-572B036AC88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742950" lvl="1" indent="-28575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ru-RU" sz="18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</a:t>
                </a:r>
                <a:r>
                  <a:rPr lang="ru-RU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перации чётно-нечётного слияния: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𝑀</m:t>
                    </m:r>
                    <m:d>
                      <m:d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𝑛</m:t>
                        </m:r>
                      </m:e>
                    </m:d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𝑛</m:t>
                        </m:r>
                      </m:num>
                      <m:den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a:rPr lang="en-US" sz="1800" i="1" dirty="0">
                        <a:latin typeface="Cambria Math" panose="02040503050406030204" pitchFamily="18" charset="0"/>
                      </a:rPr>
                      <m:t>·</m:t>
                    </m:r>
                    <m:d>
                      <m:d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1800" b="0" i="1" smtClean="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sz="1800" b="0" i="1" smtClea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𝑙𝑜𝑔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r>
                              <a:rPr lang="en-US" sz="1800" b="0" i="1" smtClean="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𝑛</m:t>
                            </m:r>
                          </m:e>
                        </m:func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−1</m:t>
                        </m:r>
                      </m:e>
                    </m:d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+1,</m:t>
                    </m:r>
                  </m:oMath>
                </a14:m>
                <a:br>
                  <a:rPr lang="en-US" sz="1800" i="1" dirty="0"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rPr>
                </a:b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откуда следует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𝑀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(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𝑛</m:t>
                    </m:r>
                    <m:r>
                      <a:rPr lang="ru-RU" sz="18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)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mbria Math" panose="02040503050406030204" pitchFamily="18" charset="0"/>
                      </a:rPr>
                      <m:t>∈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𝛩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(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𝑛</m:t>
                    </m:r>
                    <m:r>
                      <a:rPr lang="en-US" sz="1800" i="1" dirty="0">
                        <a:latin typeface="Cambria Math" panose="02040503050406030204" pitchFamily="18" charset="0"/>
                      </a:rPr>
                      <m:t>·</m:t>
                    </m:r>
                    <m:r>
                      <m:rPr>
                        <m:sty m:val="p"/>
                      </m:rPr>
                      <a:rPr lang="ru-RU" sz="1800" i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log</m:t>
                    </m:r>
                    <m:r>
                      <a:rPr lang="en-US" sz="1800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𝑛</m:t>
                    </m:r>
                    <m:r>
                      <a:rPr lang="ru-RU" sz="18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)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.</m:t>
                    </m:r>
                  </m:oMath>
                </a14:m>
                <a:endParaRPr lang="ru-RU" sz="1800" i="1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ru-RU" sz="18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Асимптотическая сложность </a:t>
                </a:r>
                <a:r>
                  <a:rPr lang="ru-RU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сортировки Бэтчера</a:t>
                </a:r>
                <a:r>
                  <a:rPr lang="en-US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:</a:t>
                </a:r>
                <a:r>
                  <a:rPr lang="ru-RU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𝑆</m:t>
                    </m:r>
                    <m:d>
                      <m:d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𝑛</m:t>
                        </m:r>
                      </m:e>
                    </m:d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𝑛</m:t>
                        </m:r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·</m:t>
                        </m:r>
                        <m:func>
                          <m:funcPr>
                            <m:ctrlPr>
                              <a:rPr lang="en-US" sz="1800" b="0" i="1" smtClean="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sz="1800" b="0" i="1" smtClea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ru-RU" sz="1800" i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r>
                              <a:rPr lang="en-US" sz="1800" b="0" i="1" smtClean="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𝑛</m:t>
                            </m:r>
                          </m:e>
                        </m:func>
                        <m:d>
                          <m:dPr>
                            <m:ctrlP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en-US" sz="1800" b="0" i="1" smtClea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en-US" sz="1800" b="0" i="1" smtClea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ru-RU" sz="1800" i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fName>
                              <m:e>
                                <m:r>
                                  <a:rPr lang="en-US" sz="1800" b="0" i="1" smtClea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𝑛</m:t>
                                </m:r>
                              </m:e>
                            </m:func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−1</m:t>
                            </m:r>
                          </m:e>
                        </m:d>
                      </m:num>
                      <m:den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4</m:t>
                        </m:r>
                      </m:den>
                    </m:f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+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𝑛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−1,</m:t>
                    </m:r>
                  </m:oMath>
                </a14:m>
                <a:r>
                  <a:rPr lang="ru-RU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асимптотическая оценка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𝑆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(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𝑛</m:t>
                    </m:r>
                    <m:r>
                      <a:rPr lang="ru-RU" sz="18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)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mbria Math" panose="02040503050406030204" pitchFamily="18" charset="0"/>
                      </a:rPr>
                      <m:t>∈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𝛩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(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𝑛</m:t>
                    </m:r>
                    <m:r>
                      <a:rPr lang="en-US" sz="1800" i="1" dirty="0">
                        <a:latin typeface="Cambria Math" panose="02040503050406030204" pitchFamily="18" charset="0"/>
                      </a:rPr>
                      <m:t>·</m:t>
                    </m:r>
                    <m:r>
                      <m:rPr>
                        <m:sty m:val="p"/>
                      </m:rPr>
                      <a:rPr lang="ru-RU" sz="1800" i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lo</m:t>
                    </m:r>
                    <m:sSup>
                      <m:sSupPr>
                        <m:ctrlPr>
                          <a:rPr lang="en-US" sz="1800" b="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ru-RU" sz="1800" i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g</m:t>
                        </m:r>
                      </m:e>
                      <m:sup>
                        <m:r>
                          <a:rPr lang="ru-RU" sz="1800" i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𝑛</m:t>
                    </m:r>
                    <m:r>
                      <a:rPr lang="ru-RU" sz="18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)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.</m:t>
                    </m:r>
                  </m:oMath>
                </a14:m>
                <a:endParaRPr lang="ru-RU" sz="1800" i="1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742950" lvl="1" indent="-285750" algn="just">
                  <a:lnSpc>
                    <a:spcPct val="150000"/>
                  </a:lnSpc>
                  <a:spcAft>
                    <a:spcPts val="1000"/>
                  </a:spcAft>
                  <a:buFont typeface="+mj-lt"/>
                  <a:buAutoNum type="arabicPeriod"/>
                </a:pPr>
                <a:r>
                  <a:rPr lang="ru-RU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Глубина сортировочной сети Бэтчера формула</a:t>
                </a:r>
                <a:r>
                  <a:rPr lang="en-US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:</a:t>
                </a:r>
                <a:r>
                  <a:rPr lang="ru-RU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𝑆</m:t>
                        </m:r>
                        <m:d>
                          <m:dPr>
                            <m:ctrlP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𝑛</m:t>
                            </m:r>
                          </m:e>
                        </m:d>
                      </m:sub>
                    </m:sSub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US" sz="1800" b="0" i="1" smtClean="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sz="1800" b="0" i="1" smtClea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𝑙𝑜𝑔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r>
                              <a:rPr lang="en-US" sz="1800" b="0" i="1" smtClean="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𝑛</m:t>
                            </m:r>
                          </m:e>
                        </m:func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·</m:t>
                        </m:r>
                        <m:d>
                          <m:dPr>
                            <m:ctrlP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en-US" sz="1800" b="0" i="1" smtClea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en-US" sz="1800" b="0" i="1" smtClea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ru-RU" sz="1800" i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fName>
                              <m:e>
                                <m:r>
                                  <a:rPr lang="en-US" sz="1800" b="0" i="1" smtClea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𝑛</m:t>
                                </m:r>
                              </m:e>
                            </m:func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+1</m:t>
                            </m:r>
                          </m:e>
                        </m:d>
                      </m:num>
                      <m:den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a:rPr lang="ru-RU" sz="18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mbria Math" panose="02040503050406030204" pitchFamily="18" charset="0"/>
                      </a:rPr>
                      <m:t>∈</m:t>
                    </m:r>
                    <m:r>
                      <a:rPr lang="ru-RU" sz="18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𝛩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(</m:t>
                    </m:r>
                    <m:func>
                      <m:funcPr>
                        <m:ctrlPr>
                          <a:rPr lang="en-US" sz="1800" b="0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ru-RU" sz="1800" i="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log</m:t>
                            </m:r>
                          </m:e>
                          <m:sup>
                            <m:r>
                              <a:rPr lang="ru-RU" sz="18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𝑛</m:t>
                        </m:r>
                      </m:e>
                    </m:func>
                    <m:r>
                      <a:rPr lang="en-US" sz="1800" b="1" i="1" smtClean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)</m:t>
                    </m:r>
                    <m:r>
                      <a:rPr lang="ru-RU" sz="18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.</m:t>
                    </m:r>
                  </m:oMath>
                </a14:m>
                <a:endParaRPr lang="ru-RU" i="1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00CEFD8-128C-03B1-85C3-572B036AC8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925DB78-19D7-65BE-0456-469E827F2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ВКР (м) студента Муханова Дмитрия Ильича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F14D21B-6418-AB2B-D943-6DAD1BB04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151D6-1CE6-4546-836D-2A836D7A7EF2}" type="slidenum">
              <a:rPr lang="ru-RU" smtClean="0"/>
              <a:pPr/>
              <a:t>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156728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50BDBA-10BF-9E23-929C-C568EAFDD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Предмет исследования и выбранный метод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00CEFD8-128C-03B1-85C3-572B036AC8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rtl="0">
              <a:lnSpc>
                <a:spcPct val="150000"/>
              </a:lnSpc>
              <a:buNone/>
            </a:pPr>
            <a:r>
              <a:rPr lang="ru-RU" sz="1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Рассмотренные методы:</a:t>
            </a:r>
            <a:endParaRPr lang="en-US" sz="14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Метод раскрутки рекуррентных соотношений;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</a:t>
            </a:r>
            <a:r>
              <a:rPr lang="ru-RU" sz="1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астер-теорема;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</a:t>
            </a:r>
            <a:r>
              <a:rPr lang="ru-RU" sz="1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етод Акра–</a:t>
            </a:r>
            <a:r>
              <a:rPr lang="ru-RU" sz="14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Баззи</a:t>
            </a:r>
            <a:r>
              <a:rPr lang="ru-RU" sz="1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</a:t>
            </a:r>
            <a:r>
              <a:rPr lang="ru-RU" sz="1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рямой подсчёт;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</a:t>
            </a:r>
            <a:r>
              <a:rPr lang="ru-RU" sz="1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ероятностный и амортизированный анализ;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rtl="0">
              <a:lnSpc>
                <a:spcPct val="150000"/>
              </a:lnSpc>
              <a:buNone/>
            </a:pPr>
            <a:r>
              <a:rPr lang="ru-RU" sz="1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Почему выбран метод раскрутки:</a:t>
            </a:r>
            <a:endParaRPr lang="en-US" sz="14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</a:t>
            </a:r>
            <a:r>
              <a:rPr lang="ru-RU" sz="1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аёт не только асимптотику, но и точную формулу;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Х</a:t>
            </a:r>
            <a:r>
              <a:rPr lang="ru-RU" sz="1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орошо подходит для рекурсивных алгоритмов;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</a:t>
            </a:r>
            <a:r>
              <a:rPr lang="ru-RU" sz="1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розрачно показывает вклад каждого уровня рекурсии</a:t>
            </a:r>
            <a:r>
              <a:rPr lang="en-US" sz="1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rtl="0">
              <a:buNone/>
            </a:pPr>
            <a:endParaRPr lang="en-US" sz="1100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925DB78-19D7-65BE-0456-469E827F2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ВКР (м) студента Муханова Дмитрия Ильича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F14D21B-6418-AB2B-D943-6DAD1BB04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151D6-1CE6-4546-836D-2A836D7A7EF2}" type="slidenum">
              <a:rPr lang="ru-RU" smtClean="0"/>
              <a:pPr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178852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50BDBA-10BF-9E23-929C-C568EAFDD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Пример: раскрутка для операции слияния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00CEFD8-128C-03B1-85C3-572B036AC88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ru-RU" sz="16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Пусть </a:t>
                </a:r>
                <a14:m>
                  <m:oMath xmlns:m="http://schemas.openxmlformats.org/officeDocument/2006/math">
                    <m:r>
                      <a:rPr lang="ru-RU" sz="1600" i="1" dirty="0" smtClean="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𝑀</m:t>
                    </m:r>
                    <m:r>
                      <a:rPr lang="ru-RU" sz="16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16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ru-RU" sz="16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— </a:t>
                </a:r>
                <a:r>
                  <a:rPr lang="ru-RU" sz="1600" b="1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число попарных сравнений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в процедуре </a:t>
                </a:r>
                <a:r>
                  <a:rPr lang="ru-RU" sz="1600" dirty="0" err="1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Odd‑Even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1600" dirty="0" err="1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Merge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для </a:t>
                </a:r>
                <a14:m>
                  <m:oMath xmlns:m="http://schemas.openxmlformats.org/officeDocument/2006/math">
                    <m:r>
                      <a:rPr lang="ru-RU" sz="16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ru-RU" sz="1600" i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6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16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ru-RU" sz="1600" i="1" dirty="0" smtClean="0">
                            <a:effectLst/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ru-RU" sz="1600" i="1" dirty="0" smtClean="0">
                        <a:latin typeface="Cambria Math" panose="02040503050406030204" pitchFamily="18" charset="0"/>
                      </a:rPr>
                      <m:t>&gt;2</m:t>
                    </m:r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Тогда рекуррентное соотношение будет иметь вид:</a:t>
                </a:r>
                <a:endParaRPr lang="en-US" sz="160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ru-RU" sz="120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𝑀</m:t>
                      </m:r>
                      <m:d>
                        <m:dPr>
                          <m:ctrlPr>
                            <a:rPr lang="ru-RU" sz="120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180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 2</m:t>
                      </m:r>
                      <m:r>
                        <a:rPr lang="en-US" sz="1800" b="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𝑀</m:t>
                      </m:r>
                      <m:d>
                        <m:dPr>
                          <m:ctrlPr>
                            <a:rPr lang="en-US" sz="1800" b="0" i="1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ru-RU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sz="180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ru-RU" sz="120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180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− 1,  </m:t>
                      </m:r>
                      <m:r>
                        <a:rPr lang="en-US" sz="1800" b="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𝑀</m:t>
                      </m:r>
                      <m:d>
                        <m:dPr>
                          <m:ctrlPr>
                            <a:rPr lang="ru-RU" sz="1800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ru-RU" sz="1800" b="0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1800" b="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r>
                        <m:rPr>
                          <m:sty m:val="p"/>
                        </m:rPr>
                        <a:rPr lang="ru-RU" sz="1800" b="0" i="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Θ</m:t>
                      </m:r>
                      <m:d>
                        <m:dPr>
                          <m:ctrlPr>
                            <a:rPr lang="ru-RU" sz="1800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ru-RU" sz="1800" b="0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ru-RU" sz="1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ru-RU" sz="16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Идея: подставить </a:t>
                </a:r>
                <a14:m>
                  <m:oMath xmlns:m="http://schemas.openxmlformats.org/officeDocument/2006/math">
                    <m:r>
                      <a:rPr lang="ru-RU" sz="1600" i="1" dirty="0" smtClean="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𝑀</m:t>
                    </m:r>
                    <m:r>
                      <a:rPr lang="ru-RU" sz="16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16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ru-RU" sz="16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в себя </a:t>
                </a:r>
                <a14:m>
                  <m:oMath xmlns:m="http://schemas.openxmlformats.org/officeDocument/2006/math">
                    <m:r>
                      <a:rPr lang="ru-RU" sz="1600" i="1" dirty="0" smtClean="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раз — получится</a:t>
                </a:r>
                <a:endParaRPr lang="en-US" sz="160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sz="180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𝑀</m:t>
                      </m:r>
                      <m:r>
                        <a:rPr lang="en-US" sz="1800" i="1" dirty="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ₘ = 2ᵏ </m:t>
                      </m:r>
                      <m:sSub>
                        <m:sSubPr>
                          <m:ctrlPr>
                            <a:rPr lang="ru-RU" sz="1200" i="1" dirty="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dirty="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1800" i="1" dirty="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𝑚</m:t>
                          </m:r>
                          <m:r>
                            <a:rPr lang="en-US" sz="1800" i="1" dirty="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sz="1800" i="1" dirty="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1800" i="1" dirty="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+ </m:t>
                      </m:r>
                      <m:r>
                        <a:rPr lang="en-US" sz="1800" i="1" dirty="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𝑘</m:t>
                      </m:r>
                      <m:r>
                        <a:rPr lang="en-US" sz="1800" i="1" dirty="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· 2</m:t>
                      </m:r>
                      <m:sSup>
                        <m:sSupPr>
                          <m:ctrlPr>
                            <a:rPr lang="ru-RU" sz="1200" i="1" dirty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1800" i="1" dirty="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ᵐ</m:t>
                          </m:r>
                        </m:e>
                        <m:sup>
                          <m:r>
                            <a:rPr lang="en-US" sz="1800" i="1" dirty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1800" i="1" dirty="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ru-RU" sz="1800" b="0" i="1" dirty="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sz="1800" i="1" dirty="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2ᵏ − 1)</m:t>
                      </m:r>
                    </m:oMath>
                  </m:oMathPara>
                </a14:m>
                <a:endParaRPr lang="en-US" sz="1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sz="1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При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−1</m:t>
                    </m:r>
                  </m:oMath>
                </a14:m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8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𝑀</m:t>
                      </m:r>
                      <m:d>
                        <m:dPr>
                          <m:ctrlPr>
                            <a:rPr lang="ru-RU" sz="18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18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18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8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sz="1800" i="1" dirty="0">
                              <a:latin typeface="Cambria Math" panose="02040503050406030204" pitchFamily="18" charset="0"/>
                            </a:rPr>
                            <m:t>·</m:t>
                          </m:r>
                          <m:r>
                            <m:rPr>
                              <m:sty m:val="p"/>
                            </m:rPr>
                            <a:rPr lang="en-US" sz="1800" i="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lo</m:t>
                          </m:r>
                          <m:sSub>
                            <m:sSubPr>
                              <m:ctrlPr>
                                <a:rPr lang="ru-RU" sz="18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i="0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g</m:t>
                              </m:r>
                            </m:e>
                            <m:sub>
                              <m:r>
                                <a:rPr lang="en-US" sz="1800" i="0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8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sz="18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18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f>
                        <m:fPr>
                          <m:ctrlPr>
                            <a:rPr lang="ru-RU" sz="18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8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sz="18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18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+ 1 ∈ </m:t>
                      </m:r>
                      <m:r>
                        <a:rPr lang="en-US" sz="18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𝛩</m:t>
                      </m:r>
                      <m:d>
                        <m:dPr>
                          <m:ctrlPr>
                            <a:rPr lang="ru-RU" sz="18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sz="1800" i="1" dirty="0">
                              <a:latin typeface="Cambria Math" panose="02040503050406030204" pitchFamily="18" charset="0"/>
                            </a:rPr>
                            <m:t>·</m:t>
                          </m:r>
                          <m:r>
                            <m:rPr>
                              <m:sty m:val="p"/>
                            </m:rPr>
                            <a:rPr lang="en-US" sz="1800" i="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log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18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. </m:t>
                      </m:r>
                    </m:oMath>
                  </m:oMathPara>
                </a14:m>
                <a:b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Те же приёмы дают функции полной сортировочной сети: суммарное число сравнений </a:t>
                </a:r>
                <a14:m>
                  <m:oMath xmlns:m="http://schemas.openxmlformats.org/officeDocument/2006/math">
                    <m:r>
                      <a:rPr lang="ru-RU" sz="1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  <m:r>
                      <a:rPr lang="ru-RU" sz="1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1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ru-RU" sz="1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и глубину (число «слоёв» зависимых сравнений)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6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ru-RU" sz="16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sub>
                    </m:sSub>
                    <m:r>
                      <a:rPr lang="ru-RU" sz="1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​</m:t>
                    </m:r>
                    <m:d>
                      <m:dPr>
                        <m:ctrlPr>
                          <a:rPr lang="ru-RU" sz="16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ru-RU" sz="16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</m:d>
                    <m:r>
                      <a:rPr lang="ru-RU" sz="16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16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Характерны замены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ru-RU" sz="16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ru-RU" sz="1600" b="1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ru-RU" sz="1600" i="1">
                        <a:latin typeface="Cambria Math" panose="02040503050406030204" pitchFamily="18" charset="0"/>
                      </a:rPr>
                      <m:t>​</m:t>
                    </m:r>
                    <m:r>
                      <a:rPr lang="ru-RU" sz="16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sz="1600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ru-RU" sz="1600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ru-RU" sz="16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b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endParaRPr lang="ru-RU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ru-RU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00CEFD8-128C-03B1-85C3-572B036AC8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925DB78-19D7-65BE-0456-469E827F2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ВКР (м) студента Муханова Дмитрия Ильича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F14D21B-6418-AB2B-D943-6DAD1BB04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151D6-1CE6-4546-836D-2A836D7A7EF2}" type="slidenum">
              <a:rPr lang="ru-RU" smtClean="0"/>
              <a:pPr/>
              <a:t>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91811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50BDBA-10BF-9E23-929C-C568EAFDD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Необходимые условия применимости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00CEFD8-128C-03B1-85C3-572B036AC88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53440" y="1825625"/>
                <a:ext cx="10515600" cy="4351338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lnSpc>
                    <a:spcPct val="170000"/>
                  </a:lnSpc>
                  <a:buNone/>
                </a:pPr>
                <a:r>
                  <a:rPr lang="ru-RU" sz="1800" dirty="0">
                    <a:latin typeface="Times New Roman" panose="02020603050405020304" pitchFamily="18" charset="0"/>
                  </a:rPr>
                  <a:t>Прямая раскрутка уместна, если выполняются три условия:</a:t>
                </a:r>
              </a:p>
              <a:p>
                <a:pPr indent="449580" algn="just">
                  <a:lnSpc>
                    <a:spcPct val="170000"/>
                  </a:lnSpc>
                  <a:spcAft>
                    <a:spcPts val="1000"/>
                  </a:spcAft>
                </a:pPr>
                <a:r>
                  <a:rPr lang="ru-RU" sz="1800" b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Условие A — рекурсивная структура.</a:t>
                </a:r>
                <a:r>
                  <a:rPr lang="ru-RU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Задача размера </a:t>
                </a:r>
                <a14:m>
                  <m:oMath xmlns:m="http://schemas.openxmlformats.org/officeDocument/2006/math">
                    <m:r>
                      <a:rPr lang="ru-RU" sz="1800" i="1" dirty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ru-RU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должна сводиться к одной или нескольким подзадачам того же типа меньшего размера. Например, сортировка слиянием сводит сортировку массива длины </a:t>
                </a:r>
                <a14:m>
                  <m:oMath xmlns:m="http://schemas.openxmlformats.org/officeDocument/2006/math">
                    <m:r>
                      <a:rPr lang="ru-RU" sz="1800" i="1" dirty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ru-RU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к сортировке двух массивов длины</a:t>
                </a:r>
                <a:r>
                  <a:rPr lang="en-US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ru-RU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ru-RU" sz="1800" b="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𝑛</m:t>
                        </m:r>
                      </m:num>
                      <m:den>
                        <m:r>
                          <a:rPr lang="ru-RU" sz="1800" b="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ru-RU" sz="1800" i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ru-RU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; </a:t>
                </a:r>
                <a:r>
                  <a:rPr lang="ru-RU" sz="18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сортировка</a:t>
                </a:r>
                <a:r>
                  <a:rPr lang="ru-RU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Бэтчера сводит сортировку к двум сортировкам половин и чётно-нечётному слиянию.</a:t>
                </a:r>
              </a:p>
              <a:p>
                <a:pPr indent="449580" algn="just">
                  <a:lnSpc>
                    <a:spcPct val="170000"/>
                  </a:lnSpc>
                  <a:spcAft>
                    <a:spcPts val="1000"/>
                  </a:spcAft>
                </a:pPr>
                <a:r>
                  <a:rPr lang="ru-RU" sz="1800" b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Условие B</a:t>
                </a:r>
                <a:r>
                  <a:rPr lang="ru-RU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— </a:t>
                </a:r>
                <a:r>
                  <a:rPr lang="ru-RU" sz="1800" b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детерминированные размеры подзадач</a:t>
                </a:r>
                <a:r>
                  <a:rPr lang="ru-RU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Размеры подзадач должны определяться только </a:t>
                </a:r>
                <a14:m>
                  <m:oMath xmlns:m="http://schemas.openxmlformats.org/officeDocument/2006/math">
                    <m:r>
                      <a:rPr lang="ru-RU" sz="1800" i="1" dirty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ru-RU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а не содержимым входных данных. В сортировке Бэтчера подзадачи всегда имеют размеры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𝑛</m:t>
                        </m:r>
                      </m:num>
                      <m:den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ru-RU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поэтому рекуррентность фиксирована. В быстрой сортировке размеры подзадач зависят от положения опорного элемента, что нарушает это условие в среднем случае.</a:t>
                </a:r>
              </a:p>
              <a:p>
                <a:pPr indent="449580" algn="just">
                  <a:lnSpc>
                    <a:spcPct val="170000"/>
                  </a:lnSpc>
                </a:pPr>
                <a:r>
                  <a:rPr lang="ru-RU" sz="1800" b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Условие C — явно выраженная склеивающая работа.</a:t>
                </a:r>
                <a:r>
                  <a:rPr lang="ru-RU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Работа, выполняемая вне рекурсивных вызовов, должна быть выражена формулой от </a:t>
                </a:r>
                <a14:m>
                  <m:oMath xmlns:m="http://schemas.openxmlformats.org/officeDocument/2006/math">
                    <m:r>
                      <a:rPr lang="ru-RU" sz="1800" i="1" dirty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ru-RU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В сортировке слиянием это </a:t>
                </a:r>
                <a14:m>
                  <m:oMath xmlns:m="http://schemas.openxmlformats.org/officeDocument/2006/math">
                    <m:r>
                      <a:rPr lang="ru-RU" sz="1800" i="1" dirty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𝑐</m:t>
                    </m:r>
                    <m:r>
                      <a:rPr lang="en-US" sz="1800" i="1" dirty="0">
                        <a:latin typeface="Cambria Math" panose="02040503050406030204" pitchFamily="18" charset="0"/>
                      </a:rPr>
                      <m:t>·</m:t>
                    </m:r>
                    <m:r>
                      <a:rPr lang="ru-RU" sz="1800" i="1" dirty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ru-RU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в чётно-нечётном слиянии Бэтчера</a:t>
                </a:r>
                <a:r>
                  <a:rPr lang="en-US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:</a:t>
                </a:r>
                <a:r>
                  <a:rPr lang="ru-RU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sz="1800" i="1" dirty="0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ru-RU" sz="1800" i="1" dirty="0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𝑛</m:t>
                        </m:r>
                      </m:num>
                      <m:den>
                        <m:r>
                          <a:rPr lang="ru-RU" sz="1800" i="1" dirty="0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a:rPr lang="ru-RU" sz="1800" i="1" dirty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−1</m:t>
                    </m:r>
                  </m:oMath>
                </a14:m>
                <a:r>
                  <a:rPr lang="ru-RU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в алгоритме Карацубы — </a:t>
                </a:r>
                <a14:m>
                  <m:oMath xmlns:m="http://schemas.openxmlformats.org/officeDocument/2006/math">
                    <m:r>
                      <a:rPr lang="ru-RU" sz="1800" i="1" dirty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𝛩</m:t>
                    </m:r>
                    <m:r>
                      <a:rPr lang="ru-RU" sz="1800" i="1" dirty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(</m:t>
                    </m:r>
                    <m:r>
                      <a:rPr lang="ru-RU" sz="1800" i="1" dirty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𝑛</m:t>
                    </m:r>
                    <m:r>
                      <a:rPr lang="ru-RU" sz="1800" i="1" dirty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00CEFD8-128C-03B1-85C3-572B036AC8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53440" y="1825625"/>
                <a:ext cx="10515600" cy="4351338"/>
              </a:xfrm>
              <a:blipFill>
                <a:blip r:embed="rId2"/>
                <a:stretch>
                  <a:fillRect l="-241" r="-12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925DB78-19D7-65BE-0456-469E827F2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ВКР (м) студента Муханова Дмитрия Ильича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F14D21B-6418-AB2B-D943-6DAD1BB04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151D6-1CE6-4546-836D-2A836D7A7EF2}" type="slidenum">
              <a:rPr lang="ru-RU" smtClean="0"/>
              <a:pPr/>
              <a:t>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603751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50BDBA-10BF-9E23-929C-C568EAFDD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746" y="365125"/>
            <a:ext cx="10515600" cy="1325563"/>
          </a:xfrm>
        </p:spPr>
        <p:txBody>
          <a:bodyPr/>
          <a:lstStyle/>
          <a:p>
            <a:r>
              <a:rPr lang="ru-RU" dirty="0"/>
              <a:t>Соответствие классических сортировок условиям A–C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925DB78-19D7-65BE-0456-469E827F2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ВКР (м) студента Муханова Дмитрия Ильича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F14D21B-6418-AB2B-D943-6DAD1BB04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151D6-1CE6-4546-836D-2A836D7A7EF2}" type="slidenum">
              <a:rPr lang="ru-RU" smtClean="0"/>
              <a:pPr/>
              <a:t>10</a:t>
            </a:fld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Объект 5">
                <a:extLst>
                  <a:ext uri="{FF2B5EF4-FFF2-40B4-BE49-F238E27FC236}">
                    <a16:creationId xmlns:a16="http://schemas.microsoft.com/office/drawing/2014/main" id="{F2447BDF-697A-A416-9F2A-D64868F46B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 rtl="0">
                  <a:lnSpc>
                    <a:spcPct val="150000"/>
                  </a:lnSpc>
                  <a:buNone/>
                </a:pPr>
                <a:r>
                  <a:rPr lang="ru-RU" sz="19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Подходят напрямую</a:t>
                </a:r>
                <a:r>
                  <a:rPr lang="en-US" sz="19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endParaRPr lang="ru-RU" sz="1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rtl="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9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ru-RU" sz="19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ортировка</a:t>
                </a:r>
                <a:r>
                  <a:rPr lang="ru-RU" sz="19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19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Бэтчер</a:t>
                </a:r>
                <a:r>
                  <a:rPr lang="ru-RU" sz="19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а</a:t>
                </a:r>
                <a:r>
                  <a:rPr lang="ru-RU" sz="19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— фиксированные подзадачи </a:t>
                </a:r>
                <a:r>
                  <a:rPr lang="ru-RU" sz="19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размера</a:t>
                </a:r>
                <a:r>
                  <a:rPr lang="ru-RU" sz="19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9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19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sz="19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19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ru-RU" sz="19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явное слияние.</a:t>
                </a:r>
                <a:endParaRPr lang="ru-RU" sz="1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rtl="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9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Merge Sort — </a:t>
                </a:r>
                <a:r>
                  <a:rPr lang="ru-RU" sz="19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две половины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9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19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sz="19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19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ru-RU" sz="19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линейное слияние.</a:t>
                </a:r>
                <a:endParaRPr lang="ru-RU" sz="1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rtl="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900" dirty="0" err="1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Bitonic</a:t>
                </a:r>
                <a:r>
                  <a:rPr lang="en-US" sz="19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Sort — </a:t>
                </a:r>
                <a:r>
                  <a:rPr lang="ru-RU" sz="19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рекурсивная сортировочная сеть.</a:t>
                </a:r>
                <a:endParaRPr lang="ru-RU" sz="1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rtl="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9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Quick Sort, </a:t>
                </a:r>
                <a:r>
                  <a:rPr lang="ru-RU" sz="19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лучший случай — разбиение пополам.</a:t>
                </a:r>
                <a:endParaRPr lang="ru-RU" sz="1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rtl="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9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Quick Sort, </a:t>
                </a:r>
                <a:r>
                  <a:rPr lang="ru-RU" sz="19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худший случай — подзадача размера </a:t>
                </a:r>
                <a14:m>
                  <m:oMath xmlns:m="http://schemas.openxmlformats.org/officeDocument/2006/math">
                    <m:r>
                      <a:rPr lang="en-US" sz="19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19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−1</m:t>
                    </m:r>
                  </m:oMath>
                </a14:m>
                <a:r>
                  <a:rPr lang="en-US" sz="19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sz="1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ru-RU" sz="19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Формально подходит:</a:t>
                </a:r>
              </a:p>
              <a:p>
                <a:pPr>
                  <a:lnSpc>
                    <a:spcPct val="150000"/>
                  </a:lnSpc>
                </a:pPr>
                <a:r>
                  <a:rPr lang="ru-RU" sz="19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Insertion</a:t>
                </a:r>
                <a:r>
                  <a:rPr lang="ru-RU" sz="19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19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Sort</a:t>
                </a:r>
                <a:r>
                  <a:rPr lang="en-US" sz="19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ru-RU" sz="19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так как можно представить рекуррентным соотношением</a:t>
                </a:r>
                <a:r>
                  <a:rPr lang="en-US" sz="19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r>
                  <a:rPr lang="ru-RU" sz="19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sz="19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𝑇</m:t>
                    </m:r>
                    <m:d>
                      <m:dPr>
                        <m:ctrlPr>
                          <a:rPr lang="ru-RU" sz="19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ru-RU" sz="19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</m:d>
                    <m:r>
                      <a:rPr lang="ru-RU" sz="19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ru-RU" sz="19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𝑇</m:t>
                    </m:r>
                    <m:d>
                      <m:dPr>
                        <m:ctrlPr>
                          <a:rPr lang="ru-RU" sz="19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ru-RU" sz="19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ru-RU" sz="19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e>
                    </m:d>
                    <m:r>
                      <a:rPr lang="ru-RU" sz="19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19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·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ru-RU" sz="19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6" name="Объект 5">
                <a:extLst>
                  <a:ext uri="{FF2B5EF4-FFF2-40B4-BE49-F238E27FC236}">
                    <a16:creationId xmlns:a16="http://schemas.microsoft.com/office/drawing/2014/main" id="{F2447BDF-697A-A416-9F2A-D64868F46B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0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53173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50BDBA-10BF-9E23-929C-C568EAFDD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 Когда метод «как есть» не применим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925DB78-19D7-65BE-0456-469E827F2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60680" y="6243462"/>
            <a:ext cx="4126949" cy="614538"/>
          </a:xfrm>
        </p:spPr>
        <p:txBody>
          <a:bodyPr/>
          <a:lstStyle/>
          <a:p>
            <a:r>
              <a:rPr lang="ru-RU" dirty="0"/>
              <a:t>ВКР (м) студента Муханова Дмитрия Ильича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F14D21B-6418-AB2B-D943-6DAD1BB04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151D6-1CE6-4546-836D-2A836D7A7EF2}" type="slidenum">
              <a:rPr lang="ru-RU" smtClean="0"/>
              <a:pPr/>
              <a:t>11</a:t>
            </a:fld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Объект 10">
                <a:extLst>
                  <a:ext uri="{FF2B5EF4-FFF2-40B4-BE49-F238E27FC236}">
                    <a16:creationId xmlns:a16="http://schemas.microsoft.com/office/drawing/2014/main" id="{3486DF08-C118-CE32-DF9F-1101F9970D6D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67277208"/>
                  </p:ext>
                </p:extLst>
              </p:nvPr>
            </p:nvGraphicFramePr>
            <p:xfrm>
              <a:off x="838200" y="1380149"/>
              <a:ext cx="10786240" cy="4498981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2696560">
                      <a:extLst>
                        <a:ext uri="{9D8B030D-6E8A-4147-A177-3AD203B41FA5}">
                          <a16:colId xmlns:a16="http://schemas.microsoft.com/office/drawing/2014/main" val="1611344132"/>
                        </a:ext>
                      </a:extLst>
                    </a:gridCol>
                    <a:gridCol w="1616885">
                      <a:extLst>
                        <a:ext uri="{9D8B030D-6E8A-4147-A177-3AD203B41FA5}">
                          <a16:colId xmlns:a16="http://schemas.microsoft.com/office/drawing/2014/main" val="503660173"/>
                        </a:ext>
                      </a:extLst>
                    </a:gridCol>
                    <a:gridCol w="2201392">
                      <a:extLst>
                        <a:ext uri="{9D8B030D-6E8A-4147-A177-3AD203B41FA5}">
                          <a16:colId xmlns:a16="http://schemas.microsoft.com/office/drawing/2014/main" val="1941540570"/>
                        </a:ext>
                      </a:extLst>
                    </a:gridCol>
                    <a:gridCol w="4271403">
                      <a:extLst>
                        <a:ext uri="{9D8B030D-6E8A-4147-A177-3AD203B41FA5}">
                          <a16:colId xmlns:a16="http://schemas.microsoft.com/office/drawing/2014/main" val="2122764893"/>
                        </a:ext>
                      </a:extLst>
                    </a:gridCol>
                  </a:tblGrid>
                  <a:tr h="452992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ru-RU" sz="1200" dirty="0">
                              <a:effectLst/>
                            </a:rPr>
                            <a:t>Алгоритм</a:t>
                          </a:r>
                          <a:endParaRPr lang="ru-RU" sz="14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ru-RU" sz="1200" dirty="0">
                              <a:effectLst/>
                            </a:rPr>
                            <a:t>Нарушенное условие</a:t>
                          </a:r>
                          <a:endParaRPr lang="ru-RU" sz="14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ru-RU" sz="1200" dirty="0">
                              <a:effectLst/>
                            </a:rPr>
                            <a:t>Причина</a:t>
                          </a:r>
                          <a:endParaRPr lang="ru-RU" sz="14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ru-RU" sz="1200" dirty="0">
                              <a:effectLst/>
                            </a:rPr>
                            <a:t>Альтернативный метод / как определить асимптотику</a:t>
                          </a:r>
                          <a:endParaRPr lang="ru-RU" sz="14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/>
                    </a:tc>
                    <a:extLst>
                      <a:ext uri="{0D108BD9-81ED-4DB2-BD59-A6C34878D82A}">
                        <a16:rowId xmlns:a16="http://schemas.microsoft.com/office/drawing/2014/main" val="3990475179"/>
                      </a:ext>
                    </a:extLst>
                  </a:tr>
                  <a:tr h="452992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ru-RU" sz="1200" dirty="0">
                              <a:effectLst/>
                            </a:rPr>
                            <a:t>Quick </a:t>
                          </a:r>
                          <a:r>
                            <a:rPr lang="ru-RU" sz="1200" dirty="0" err="1">
                              <a:effectLst/>
                            </a:rPr>
                            <a:t>Sort</a:t>
                          </a:r>
                          <a:r>
                            <a:rPr lang="ru-RU" sz="1200" dirty="0">
                              <a:effectLst/>
                            </a:rPr>
                            <a:t>, средний случай</a:t>
                          </a:r>
                          <a:endParaRPr lang="ru-RU" sz="14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ru-RU" sz="1200" dirty="0">
                              <a:effectLst/>
                            </a:rPr>
                            <a:t>B</a:t>
                          </a:r>
                          <a:endParaRPr lang="ru-RU" sz="14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ru-RU" sz="1200" dirty="0">
                              <a:effectLst/>
                            </a:rPr>
                            <a:t>Случайный размер подзадач</a:t>
                          </a:r>
                          <a:endParaRPr lang="ru-RU" sz="14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ru-RU" sz="1200" dirty="0">
                              <a:effectLst/>
                            </a:rPr>
                            <a:t>Вероятностный анализ: перейти к мат</a:t>
                          </a:r>
                          <a:r>
                            <a:rPr lang="en-US" sz="1200" dirty="0">
                              <a:effectLst/>
                            </a:rPr>
                            <a:t>-</a:t>
                          </a:r>
                          <a:r>
                            <a:rPr lang="ru-RU" sz="1200" dirty="0">
                              <a:effectLst/>
                            </a:rPr>
                            <a:t>ожиданию, получить рекуррентность</a:t>
                          </a:r>
                          <a:r>
                            <a:rPr lang="ru-RU" sz="1200" baseline="0" dirty="0">
                              <a:effectLst/>
                            </a:rPr>
                            <a:t> вида</a:t>
                          </a:r>
                          <a:r>
                            <a:rPr lang="en-US" sz="1200" baseline="0" dirty="0">
                              <a:effectLst/>
                            </a:rPr>
                            <a:t>:</a:t>
                          </a:r>
                          <a:endParaRPr lang="ru-RU" sz="1200" i="1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10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𝑇</m:t>
                                </m:r>
                                <m:d>
                                  <m:dPr>
                                    <m:ctrlPr>
                                      <a:rPr lang="ru-RU" sz="12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𝑛</m:t>
                                    </m:r>
                                  </m:e>
                                </m:d>
                                <m:r>
                                  <a:rPr lang="en-US" sz="12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 </m:t>
                                </m:r>
                                <m:d>
                                  <m:dPr>
                                    <m:ctrlPr>
                                      <a:rPr lang="ru-RU" sz="12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𝑛</m:t>
                                    </m:r>
                                    <m:r>
                                      <a:rPr lang="en-US" sz="12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−1</m:t>
                                    </m:r>
                                  </m:e>
                                </m:d>
                                <m:r>
                                  <a:rPr lang="en-US" sz="12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ru-RU" sz="12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2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US" sz="12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𝑛</m:t>
                                    </m:r>
                                  </m:den>
                                </m:f>
                                <m:nary>
                                  <m:naryPr>
                                    <m:chr m:val="∑"/>
                                    <m:limLoc m:val="undOvr"/>
                                    <m:grow m:val="on"/>
                                    <m:ctrlPr>
                                      <a:rPr lang="ru-RU" sz="12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sz="12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𝑘</m:t>
                                    </m:r>
                                    <m:r>
                                      <a:rPr lang="en-US" sz="12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=0</m:t>
                                    </m:r>
                                  </m:sub>
                                  <m:sup>
                                    <m:r>
                                      <a:rPr lang="en-US" sz="12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𝑛</m:t>
                                    </m:r>
                                    <m:r>
                                      <a:rPr lang="en-US" sz="12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−1</m:t>
                                    </m:r>
                                  </m:sup>
                                  <m:e>
                                    <m:r>
                                      <a:rPr lang="en-US" sz="12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𝑇</m:t>
                                    </m:r>
                                    <m:d>
                                      <m:dPr>
                                        <m:ctrlPr>
                                          <a:rPr lang="ru-RU" sz="120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20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𝑘</m:t>
                                        </m:r>
                                      </m:e>
                                    </m:d>
                                  </m:e>
                                </m:nary>
                              </m:oMath>
                            </m:oMathPara>
                          </a14:m>
                          <a:endParaRPr lang="ru-RU" sz="12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/>
                    </a:tc>
                    <a:extLst>
                      <a:ext uri="{0D108BD9-81ED-4DB2-BD59-A6C34878D82A}">
                        <a16:rowId xmlns:a16="http://schemas.microsoft.com/office/drawing/2014/main" val="1889969963"/>
                      </a:ext>
                    </a:extLst>
                  </a:tr>
                  <a:tr h="452992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ru-RU" sz="1200" dirty="0" err="1">
                              <a:effectLst/>
                            </a:rPr>
                            <a:t>Heap</a:t>
                          </a:r>
                          <a:r>
                            <a:rPr lang="ru-RU" sz="1200" dirty="0">
                              <a:effectLst/>
                            </a:rPr>
                            <a:t> </a:t>
                          </a:r>
                          <a:r>
                            <a:rPr lang="ru-RU" sz="1200" dirty="0" err="1">
                              <a:effectLst/>
                            </a:rPr>
                            <a:t>Sort</a:t>
                          </a:r>
                          <a:endParaRPr lang="ru-RU" sz="14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ru-RU" sz="1200" dirty="0">
                              <a:effectLst/>
                            </a:rPr>
                            <a:t>A</a:t>
                          </a:r>
                          <a:endParaRPr lang="ru-RU" sz="14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ru-RU" sz="1200" dirty="0">
                              <a:effectLst/>
                            </a:rPr>
                            <a:t>Нет рекурсивной структуры сортировки</a:t>
                          </a:r>
                          <a:endParaRPr lang="ru-RU" sz="14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ru-RU" sz="1200" dirty="0">
                              <a:effectLst/>
                            </a:rPr>
                            <a:t>Прямое суммирование: оценить построение кучи как </a:t>
                          </a:r>
                          <a14:m>
                            <m:oMath xmlns:m="http://schemas.openxmlformats.org/officeDocument/2006/math">
                              <m:r>
                                <a:rPr lang="ru-RU" sz="1200" i="1" dirty="0" smtClean="0">
                                  <a:effectLst/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r>
                                <a:rPr lang="ru-RU" sz="1200" i="1" dirty="0" smtClean="0">
                                  <a:effectLst/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ru-RU" sz="1200" i="1" dirty="0" smtClean="0">
                                  <a:effectLst/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ru-RU" sz="1200" i="1" dirty="0" smtClean="0">
                                  <a:effectLst/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ru-RU" sz="1200" dirty="0">
                              <a:effectLst/>
                            </a:rPr>
                            <a:t> и просуммировать</a:t>
                          </a:r>
                          <a:r>
                            <a:rPr lang="en-US" sz="1200" dirty="0">
                              <a:effectLst/>
                            </a:rPr>
                            <a:t> c</a:t>
                          </a:r>
                          <a:r>
                            <a:rPr lang="ru-RU" sz="1200" dirty="0">
                              <a:effectLst/>
                            </a:rPr>
                            <a:t> стоимостью извлечений</a:t>
                          </a:r>
                          <a:endParaRPr lang="ru-RU" sz="12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/>
                    </a:tc>
                    <a:extLst>
                      <a:ext uri="{0D108BD9-81ED-4DB2-BD59-A6C34878D82A}">
                        <a16:rowId xmlns:a16="http://schemas.microsoft.com/office/drawing/2014/main" val="594100534"/>
                      </a:ext>
                    </a:extLst>
                  </a:tr>
                  <a:tr h="92351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ru-RU" sz="1200" dirty="0" err="1">
                              <a:effectLst/>
                            </a:rPr>
                            <a:t>Shellsort</a:t>
                          </a:r>
                          <a:endParaRPr lang="ru-RU" sz="14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ru-RU" sz="1200" dirty="0">
                              <a:effectLst/>
                            </a:rPr>
                            <a:t>A, B, C</a:t>
                          </a:r>
                          <a:endParaRPr lang="ru-RU" sz="14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ru-RU" sz="1200" dirty="0">
                              <a:effectLst/>
                            </a:rPr>
                            <a:t>Зависимость от последовательности шагов и входа</a:t>
                          </a:r>
                          <a:endParaRPr lang="ru-RU" sz="14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1000"/>
                            </a:spcAft>
                          </a:pPr>
                          <a:endParaRPr lang="ru-RU" sz="14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/>
                    </a:tc>
                    <a:extLst>
                      <a:ext uri="{0D108BD9-81ED-4DB2-BD59-A6C34878D82A}">
                        <a16:rowId xmlns:a16="http://schemas.microsoft.com/office/drawing/2014/main" val="3146335872"/>
                      </a:ext>
                    </a:extLst>
                  </a:tr>
                  <a:tr h="452992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ru-RU" sz="1200">
                              <a:effectLst/>
                            </a:rPr>
                            <a:t>Tim Sort</a:t>
                          </a:r>
                          <a:endParaRPr lang="ru-RU" sz="1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ru-RU" sz="1200">
                              <a:effectLst/>
                            </a:rPr>
                            <a:t>B, C</a:t>
                          </a:r>
                          <a:endParaRPr lang="ru-RU" sz="1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ru-RU" sz="1200" dirty="0">
                              <a:effectLst/>
                            </a:rPr>
                            <a:t>Адаптивные серии и стратегия слияния</a:t>
                          </a:r>
                          <a:endParaRPr lang="ru-RU" sz="14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ru-RU" sz="1200" dirty="0">
                              <a:effectLst/>
                            </a:rPr>
                            <a:t>Амортизированная стоимость слияний серий</a:t>
                          </a:r>
                          <a:r>
                            <a:rPr lang="en-US" sz="1200" dirty="0">
                              <a:effectLst/>
                            </a:rPr>
                            <a:t>(</a:t>
                          </a:r>
                          <a:r>
                            <a:rPr lang="ru-RU" sz="1200" dirty="0" err="1">
                              <a:effectLst/>
                            </a:rPr>
                            <a:t>Кормен</a:t>
                          </a:r>
                          <a:r>
                            <a:rPr lang="en-US" sz="1200" dirty="0">
                              <a:effectLst/>
                            </a:rPr>
                            <a:t>)</a:t>
                          </a:r>
                          <a:endParaRPr lang="ru-RU" sz="14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/>
                    </a:tc>
                    <a:extLst>
                      <a:ext uri="{0D108BD9-81ED-4DB2-BD59-A6C34878D82A}">
                        <a16:rowId xmlns:a16="http://schemas.microsoft.com/office/drawing/2014/main" val="948559538"/>
                      </a:ext>
                    </a:extLst>
                  </a:tr>
                  <a:tr h="452992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ru-RU" sz="1200" dirty="0" err="1">
                              <a:effectLst/>
                            </a:rPr>
                            <a:t>Bubble</a:t>
                          </a:r>
                          <a:r>
                            <a:rPr lang="ru-RU" sz="1200" dirty="0">
                              <a:effectLst/>
                            </a:rPr>
                            <a:t> </a:t>
                          </a:r>
                          <a:r>
                            <a:rPr lang="ru-RU" sz="1200" dirty="0" err="1">
                              <a:effectLst/>
                            </a:rPr>
                            <a:t>Sort</a:t>
                          </a:r>
                          <a:r>
                            <a:rPr lang="ru-RU" sz="1200" dirty="0">
                              <a:effectLst/>
                            </a:rPr>
                            <a:t>, </a:t>
                          </a:r>
                          <a:r>
                            <a:rPr lang="ru-RU" sz="1200" dirty="0" err="1">
                              <a:effectLst/>
                            </a:rPr>
                            <a:t>Selection</a:t>
                          </a:r>
                          <a:r>
                            <a:rPr lang="ru-RU" sz="1200" dirty="0">
                              <a:effectLst/>
                            </a:rPr>
                            <a:t> </a:t>
                          </a:r>
                          <a:r>
                            <a:rPr lang="ru-RU" sz="1200" dirty="0" err="1">
                              <a:effectLst/>
                            </a:rPr>
                            <a:t>Sort</a:t>
                          </a:r>
                          <a:endParaRPr lang="ru-RU" sz="14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ru-RU" sz="1200" dirty="0">
                              <a:effectLst/>
                            </a:rPr>
                            <a:t>A</a:t>
                          </a:r>
                          <a:endParaRPr lang="ru-RU" sz="14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ru-RU" sz="1200" dirty="0">
                              <a:effectLst/>
                            </a:rPr>
                            <a:t>Итеративная структура</a:t>
                          </a:r>
                          <a:endParaRPr lang="ru-RU" sz="14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ru-RU" sz="1200" dirty="0">
                              <a:effectLst/>
                            </a:rPr>
                            <a:t>Прямой подсчёт: просуммировать сравнения по проходам</a:t>
                          </a:r>
                          <a:endParaRPr lang="ru-RU" sz="14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/>
                    </a:tc>
                    <a:extLst>
                      <a:ext uri="{0D108BD9-81ED-4DB2-BD59-A6C34878D82A}">
                        <a16:rowId xmlns:a16="http://schemas.microsoft.com/office/drawing/2014/main" val="29868909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Объект 10">
                <a:extLst>
                  <a:ext uri="{FF2B5EF4-FFF2-40B4-BE49-F238E27FC236}">
                    <a16:creationId xmlns:a16="http://schemas.microsoft.com/office/drawing/2014/main" id="{3486DF08-C118-CE32-DF9F-1101F9970D6D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67277208"/>
                  </p:ext>
                </p:extLst>
              </p:nvPr>
            </p:nvGraphicFramePr>
            <p:xfrm>
              <a:off x="838200" y="1380149"/>
              <a:ext cx="10786240" cy="4498981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2696560">
                      <a:extLst>
                        <a:ext uri="{9D8B030D-6E8A-4147-A177-3AD203B41FA5}">
                          <a16:colId xmlns:a16="http://schemas.microsoft.com/office/drawing/2014/main" val="1611344132"/>
                        </a:ext>
                      </a:extLst>
                    </a:gridCol>
                    <a:gridCol w="1616885">
                      <a:extLst>
                        <a:ext uri="{9D8B030D-6E8A-4147-A177-3AD203B41FA5}">
                          <a16:colId xmlns:a16="http://schemas.microsoft.com/office/drawing/2014/main" val="503660173"/>
                        </a:ext>
                      </a:extLst>
                    </a:gridCol>
                    <a:gridCol w="2201392">
                      <a:extLst>
                        <a:ext uri="{9D8B030D-6E8A-4147-A177-3AD203B41FA5}">
                          <a16:colId xmlns:a16="http://schemas.microsoft.com/office/drawing/2014/main" val="1941540570"/>
                        </a:ext>
                      </a:extLst>
                    </a:gridCol>
                    <a:gridCol w="4271403">
                      <a:extLst>
                        <a:ext uri="{9D8B030D-6E8A-4147-A177-3AD203B41FA5}">
                          <a16:colId xmlns:a16="http://schemas.microsoft.com/office/drawing/2014/main" val="2122764893"/>
                        </a:ext>
                      </a:extLst>
                    </a:gridCol>
                  </a:tblGrid>
                  <a:tr h="452992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ru-RU" sz="1200" dirty="0">
                              <a:effectLst/>
                            </a:rPr>
                            <a:t>Алгоритм</a:t>
                          </a:r>
                          <a:endParaRPr lang="ru-RU" sz="14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ru-RU" sz="1200" dirty="0">
                              <a:effectLst/>
                            </a:rPr>
                            <a:t>Нарушенное условие</a:t>
                          </a:r>
                          <a:endParaRPr lang="ru-RU" sz="14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ru-RU" sz="1200" dirty="0">
                              <a:effectLst/>
                            </a:rPr>
                            <a:t>Причина</a:t>
                          </a:r>
                          <a:endParaRPr lang="ru-RU" sz="14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ru-RU" sz="1200" dirty="0">
                              <a:effectLst/>
                            </a:rPr>
                            <a:t>Альтернативный метод / как определить асимптотику</a:t>
                          </a:r>
                          <a:endParaRPr lang="ru-RU" sz="14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/>
                    </a:tc>
                    <a:extLst>
                      <a:ext uri="{0D108BD9-81ED-4DB2-BD59-A6C34878D82A}">
                        <a16:rowId xmlns:a16="http://schemas.microsoft.com/office/drawing/2014/main" val="3990475179"/>
                      </a:ext>
                    </a:extLst>
                  </a:tr>
                  <a:tr h="1592644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ru-RU" sz="1200" dirty="0">
                              <a:effectLst/>
                            </a:rPr>
                            <a:t>Quick </a:t>
                          </a:r>
                          <a:r>
                            <a:rPr lang="ru-RU" sz="1200" dirty="0" err="1">
                              <a:effectLst/>
                            </a:rPr>
                            <a:t>Sort</a:t>
                          </a:r>
                          <a:r>
                            <a:rPr lang="ru-RU" sz="1200" dirty="0">
                              <a:effectLst/>
                            </a:rPr>
                            <a:t>, средний случай</a:t>
                          </a:r>
                          <a:endParaRPr lang="ru-RU" sz="14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ru-RU" sz="1200" dirty="0">
                              <a:effectLst/>
                            </a:rPr>
                            <a:t>B</a:t>
                          </a:r>
                          <a:endParaRPr lang="ru-RU" sz="14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ru-RU" sz="1200" dirty="0">
                              <a:effectLst/>
                            </a:rPr>
                            <a:t>Случайный размер подзадач</a:t>
                          </a:r>
                          <a:endParaRPr lang="ru-RU" sz="14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9525" marR="9525" marT="9525" marB="9525" anchor="ctr">
                        <a:blipFill>
                          <a:blip r:embed="rId2"/>
                          <a:stretch>
                            <a:fillRect l="-152639" t="-28626" r="-713" b="-15458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89969963"/>
                      </a:ext>
                    </a:extLst>
                  </a:tr>
                  <a:tr h="538417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ru-RU" sz="1200" dirty="0" err="1">
                              <a:effectLst/>
                            </a:rPr>
                            <a:t>Heap</a:t>
                          </a:r>
                          <a:r>
                            <a:rPr lang="ru-RU" sz="1200" dirty="0">
                              <a:effectLst/>
                            </a:rPr>
                            <a:t> </a:t>
                          </a:r>
                          <a:r>
                            <a:rPr lang="ru-RU" sz="1200" dirty="0" err="1">
                              <a:effectLst/>
                            </a:rPr>
                            <a:t>Sort</a:t>
                          </a:r>
                          <a:endParaRPr lang="ru-RU" sz="14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ru-RU" sz="1200" dirty="0">
                              <a:effectLst/>
                            </a:rPr>
                            <a:t>A</a:t>
                          </a:r>
                          <a:endParaRPr lang="ru-RU" sz="14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ru-RU" sz="1200" dirty="0">
                              <a:effectLst/>
                            </a:rPr>
                            <a:t>Нет рекурсивной структуры сортировки</a:t>
                          </a:r>
                          <a:endParaRPr lang="ru-RU" sz="14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9525" marR="9525" marT="9525" marB="9525" anchor="ctr">
                        <a:blipFill>
                          <a:blip r:embed="rId2"/>
                          <a:stretch>
                            <a:fillRect l="-152639" t="-382955" r="-713" b="-3602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94100534"/>
                      </a:ext>
                    </a:extLst>
                  </a:tr>
                  <a:tr h="92351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ru-RU" sz="1200" dirty="0" err="1">
                              <a:effectLst/>
                            </a:rPr>
                            <a:t>Shellsort</a:t>
                          </a:r>
                          <a:endParaRPr lang="ru-RU" sz="14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ru-RU" sz="1200" dirty="0">
                              <a:effectLst/>
                            </a:rPr>
                            <a:t>A, B, C</a:t>
                          </a:r>
                          <a:endParaRPr lang="ru-RU" sz="14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ru-RU" sz="1200" dirty="0">
                              <a:effectLst/>
                            </a:rPr>
                            <a:t>Зависимость от последовательности шагов и входа</a:t>
                          </a:r>
                          <a:endParaRPr lang="ru-RU" sz="14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1000"/>
                            </a:spcAft>
                          </a:pPr>
                          <a:endParaRPr lang="ru-RU" sz="14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/>
                    </a:tc>
                    <a:extLst>
                      <a:ext uri="{0D108BD9-81ED-4DB2-BD59-A6C34878D82A}">
                        <a16:rowId xmlns:a16="http://schemas.microsoft.com/office/drawing/2014/main" val="3146335872"/>
                      </a:ext>
                    </a:extLst>
                  </a:tr>
                  <a:tr h="538417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ru-RU" sz="1200">
                              <a:effectLst/>
                            </a:rPr>
                            <a:t>Tim Sort</a:t>
                          </a:r>
                          <a:endParaRPr lang="ru-RU" sz="1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ru-RU" sz="1200">
                              <a:effectLst/>
                            </a:rPr>
                            <a:t>B, C</a:t>
                          </a:r>
                          <a:endParaRPr lang="ru-RU" sz="14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ru-RU" sz="1200" dirty="0">
                              <a:effectLst/>
                            </a:rPr>
                            <a:t>Адаптивные серии и стратегия слияния</a:t>
                          </a:r>
                          <a:endParaRPr lang="ru-RU" sz="14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ru-RU" sz="1200" dirty="0">
                              <a:effectLst/>
                            </a:rPr>
                            <a:t>Амортизированная стоимость слияний серий</a:t>
                          </a:r>
                          <a:r>
                            <a:rPr lang="en-US" sz="1200" dirty="0">
                              <a:effectLst/>
                            </a:rPr>
                            <a:t>(</a:t>
                          </a:r>
                          <a:r>
                            <a:rPr lang="ru-RU" sz="1200" dirty="0" err="1">
                              <a:effectLst/>
                            </a:rPr>
                            <a:t>Кормен</a:t>
                          </a:r>
                          <a:r>
                            <a:rPr lang="en-US" sz="1200" dirty="0">
                              <a:effectLst/>
                            </a:rPr>
                            <a:t>)</a:t>
                          </a:r>
                          <a:endParaRPr lang="ru-RU" sz="14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/>
                    </a:tc>
                    <a:extLst>
                      <a:ext uri="{0D108BD9-81ED-4DB2-BD59-A6C34878D82A}">
                        <a16:rowId xmlns:a16="http://schemas.microsoft.com/office/drawing/2014/main" val="948559538"/>
                      </a:ext>
                    </a:extLst>
                  </a:tr>
                  <a:tr h="452992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ru-RU" sz="1200" dirty="0" err="1">
                              <a:effectLst/>
                            </a:rPr>
                            <a:t>Bubble</a:t>
                          </a:r>
                          <a:r>
                            <a:rPr lang="ru-RU" sz="1200" dirty="0">
                              <a:effectLst/>
                            </a:rPr>
                            <a:t> </a:t>
                          </a:r>
                          <a:r>
                            <a:rPr lang="ru-RU" sz="1200" dirty="0" err="1">
                              <a:effectLst/>
                            </a:rPr>
                            <a:t>Sort</a:t>
                          </a:r>
                          <a:r>
                            <a:rPr lang="ru-RU" sz="1200" dirty="0">
                              <a:effectLst/>
                            </a:rPr>
                            <a:t>, </a:t>
                          </a:r>
                          <a:r>
                            <a:rPr lang="ru-RU" sz="1200" dirty="0" err="1">
                              <a:effectLst/>
                            </a:rPr>
                            <a:t>Selection</a:t>
                          </a:r>
                          <a:r>
                            <a:rPr lang="ru-RU" sz="1200" dirty="0">
                              <a:effectLst/>
                            </a:rPr>
                            <a:t> </a:t>
                          </a:r>
                          <a:r>
                            <a:rPr lang="ru-RU" sz="1200" dirty="0" err="1">
                              <a:effectLst/>
                            </a:rPr>
                            <a:t>Sort</a:t>
                          </a:r>
                          <a:endParaRPr lang="ru-RU" sz="14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ru-RU" sz="1200" dirty="0">
                              <a:effectLst/>
                            </a:rPr>
                            <a:t>A</a:t>
                          </a:r>
                          <a:endParaRPr lang="ru-RU" sz="14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ru-RU" sz="1200" dirty="0">
                              <a:effectLst/>
                            </a:rPr>
                            <a:t>Итеративная структура</a:t>
                          </a:r>
                          <a:endParaRPr lang="ru-RU" sz="14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ru-RU" sz="1200" dirty="0">
                              <a:effectLst/>
                            </a:rPr>
                            <a:t>Прямой подсчёт: просуммировать сравнения по проходам</a:t>
                          </a:r>
                          <a:endParaRPr lang="ru-RU" sz="14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/>
                    </a:tc>
                    <a:extLst>
                      <a:ext uri="{0D108BD9-81ED-4DB2-BD59-A6C34878D82A}">
                        <a16:rowId xmlns:a16="http://schemas.microsoft.com/office/drawing/2014/main" val="298689090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6464503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50BDBA-10BF-9E23-929C-C568EAFDD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Другие алгоритмы парадигмы </a:t>
            </a:r>
            <a:r>
              <a:rPr lang="en-US" dirty="0"/>
              <a:t>“</a:t>
            </a:r>
            <a:r>
              <a:rPr lang="ru-RU" dirty="0"/>
              <a:t>разделяй и властвуй</a:t>
            </a:r>
            <a:r>
              <a:rPr lang="en-US" dirty="0"/>
              <a:t>”, </a:t>
            </a:r>
            <a:r>
              <a:rPr lang="ru-RU" dirty="0"/>
              <a:t>анализируемые тем же методом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00CEFD8-128C-03B1-85C3-572B036AC8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ru-RU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Метод применим не только к сортировкам.</a:t>
            </a:r>
            <a:endParaRPr lang="en-US" sz="18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925DB78-19D7-65BE-0456-469E827F2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ВКР (м) студента Муханова Дмитрия Ильича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F14D21B-6418-AB2B-D943-6DAD1BB04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151D6-1CE6-4546-836D-2A836D7A7EF2}" type="slidenum">
              <a:rPr lang="ru-RU" smtClean="0"/>
              <a:pPr/>
              <a:t>12</a:t>
            </a:fld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Таблица 8">
                <a:extLst>
                  <a:ext uri="{FF2B5EF4-FFF2-40B4-BE49-F238E27FC236}">
                    <a16:creationId xmlns:a16="http://schemas.microsoft.com/office/drawing/2014/main" id="{19D60397-BF93-8E17-39BA-0F877F00C3B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92944226"/>
                  </p:ext>
                </p:extLst>
              </p:nvPr>
            </p:nvGraphicFramePr>
            <p:xfrm>
              <a:off x="838200" y="3086894"/>
              <a:ext cx="10515600" cy="2680209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3505200">
                      <a:extLst>
                        <a:ext uri="{9D8B030D-6E8A-4147-A177-3AD203B41FA5}">
                          <a16:colId xmlns:a16="http://schemas.microsoft.com/office/drawing/2014/main" val="616110766"/>
                        </a:ext>
                      </a:extLst>
                    </a:gridCol>
                    <a:gridCol w="3505200">
                      <a:extLst>
                        <a:ext uri="{9D8B030D-6E8A-4147-A177-3AD203B41FA5}">
                          <a16:colId xmlns:a16="http://schemas.microsoft.com/office/drawing/2014/main" val="2344528176"/>
                        </a:ext>
                      </a:extLst>
                    </a:gridCol>
                    <a:gridCol w="3505200">
                      <a:extLst>
                        <a:ext uri="{9D8B030D-6E8A-4147-A177-3AD203B41FA5}">
                          <a16:colId xmlns:a16="http://schemas.microsoft.com/office/drawing/2014/main" val="3860794211"/>
                        </a:ext>
                      </a:extLst>
                    </a:gridCol>
                  </a:tblGrid>
                  <a:tr h="475329">
                    <a:tc>
                      <a:txBody>
                        <a:bodyPr/>
                        <a:lstStyle/>
                        <a:p>
                          <a:r>
                            <a:rPr lang="ru-RU" dirty="0">
                              <a:effectLst/>
                            </a:rPr>
                            <a:t>Алгоритм</a:t>
                          </a:r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>
                              <a:effectLst/>
                            </a:rPr>
                            <a:t>Рекуррентность</a:t>
                          </a:r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>
                              <a:effectLst/>
                            </a:rPr>
                            <a:t>Асимптотика</a:t>
                          </a:r>
                          <a:endParaRPr lang="ru-RU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888592759"/>
                      </a:ext>
                    </a:extLst>
                  </a:tr>
                  <a:tr h="475329">
                    <a:tc>
                      <a:txBody>
                        <a:bodyPr/>
                        <a:lstStyle/>
                        <a:p>
                          <a:r>
                            <a:rPr lang="ru-RU" sz="1800" b="1" kern="1200" dirty="0">
                              <a:solidFill>
                                <a:schemeClr val="lt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Умножение Карацубы </a:t>
                          </a:r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  <m:d>
                                  <m:dPr>
                                    <m:ctrlPr>
                                      <a:rPr lang="en-US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  <m:r>
                                  <a:rPr lang="en-US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=3</m:t>
                                </m:r>
                                <m:r>
                                  <a:rPr lang="en-US" i="1" dirty="0">
                                    <a:effectLst/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  <m:d>
                                  <m:dPr>
                                    <m:ctrlPr>
                                      <a:rPr lang="en-US" i="1" dirty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i="1" dirty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num>
                                      <m:den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·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l-GR" i="0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l-GR" i="1" dirty="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lang="en-US" b="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 dirty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-US" i="1" dirty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1.585</m:t>
                                    </m:r>
                                  </m:sup>
                                </m:sSup>
                                <m:r>
                                  <a:rPr lang="en-US" i="1" dirty="0"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51245378"/>
                      </a:ext>
                    </a:extLst>
                  </a:tr>
                  <a:tr h="475329">
                    <a:tc>
                      <a:txBody>
                        <a:bodyPr/>
                        <a:lstStyle/>
                        <a:p>
                          <a:r>
                            <a:rPr lang="ru-RU" sz="1800" b="1" kern="1200" dirty="0">
                              <a:solidFill>
                                <a:schemeClr val="lt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Алгоритм </a:t>
                          </a:r>
                          <a:r>
                            <a:rPr lang="ru-RU" sz="1800" b="1" kern="1200" dirty="0" err="1">
                              <a:solidFill>
                                <a:schemeClr val="lt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Тоома</a:t>
                          </a:r>
                          <a:r>
                            <a:rPr lang="ru-RU" sz="1800" b="1" kern="1200" dirty="0">
                              <a:solidFill>
                                <a:schemeClr val="lt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–Кука</a:t>
                          </a:r>
                          <a:r>
                            <a:rPr lang="en-US" sz="1800" b="1" kern="1200" dirty="0">
                              <a:solidFill>
                                <a:schemeClr val="lt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(Toom-3)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  <m:d>
                                  <m:dPr>
                                    <m:ctrlPr>
                                      <a:rPr lang="en-US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  <m:r>
                                  <a:rPr lang="en-US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=5</m:t>
                                </m:r>
                                <m:r>
                                  <a:rPr lang="en-US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  <m:d>
                                  <m:dPr>
                                    <m:ctrlPr>
                                      <a:rPr lang="en-US" b="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b="0" i="1" dirty="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b="0" i="1" dirty="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num>
                                      <m:den>
                                        <m:r>
                                          <a:rPr lang="en-US" b="0" i="1" dirty="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·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l-GR" i="0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l-GR" i="1" dirty="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lang="en-US" b="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 dirty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-US" i="1" dirty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1.465</m:t>
                                    </m:r>
                                  </m:sup>
                                </m:sSup>
                                <m:r>
                                  <a:rPr lang="en-US" i="1" dirty="0"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16444592"/>
                      </a:ext>
                    </a:extLst>
                  </a:tr>
                  <a:tr h="475329">
                    <a:tc>
                      <a:txBody>
                        <a:bodyPr/>
                        <a:lstStyle/>
                        <a:p>
                          <a:r>
                            <a:rPr lang="ru-RU" sz="1800" b="1" kern="1200" dirty="0">
                              <a:solidFill>
                                <a:schemeClr val="lt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Алгоритм Штрассена </a:t>
                          </a:r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  <m:d>
                                  <m:dPr>
                                    <m:ctrlPr>
                                      <a:rPr lang="en-US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  <m:r>
                                  <a:rPr lang="en-US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=7</m:t>
                                </m:r>
                                <m:r>
                                  <a:rPr lang="en-US" i="1" dirty="0">
                                    <a:effectLst/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  <m:d>
                                  <m:dPr>
                                    <m:ctrlPr>
                                      <a:rPr lang="en-US" i="1" dirty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i="1" dirty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num>
                                      <m:den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sSup>
                                  <m:sSup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·</m:t>
                                    </m:r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-US" i="1" dirty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l-GR" i="0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l-GR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lang="en-US" b="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-US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2.807</m:t>
                                    </m:r>
                                  </m:sup>
                                </m:sSup>
                                <m:r>
                                  <a:rPr lang="en-US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79849412"/>
                      </a:ext>
                    </a:extLst>
                  </a:tr>
                  <a:tr h="475329"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FFT/NTT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  <m:d>
                                  <m:dPr>
                                    <m:ctrlPr>
                                      <a:rPr lang="en-US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  <m:r>
                                  <a:rPr lang="en-US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180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𝑐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·</m:t>
                                </m:r>
                                <m:r>
                                  <a:rPr lang="en-US" sz="180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𝑛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·</m:t>
                                </m:r>
                                <m:r>
                                  <a:rPr lang="en-US" sz="180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𝑙𝑜</m:t>
                                </m:r>
                                <m:sSub>
                                  <m:sSubPr>
                                    <m:ctrlPr>
                                      <a:rPr lang="ru-RU" sz="18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lang="en-US" sz="18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18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𝛩</m:t>
                                </m:r>
                                <m:d>
                                  <m:dPr>
                                    <m:ctrlPr>
                                      <a:rPr lang="ru-RU" sz="18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𝑛𝑙𝑜𝑔</m:t>
                                    </m:r>
                                    <m:r>
                                      <a:rPr lang="en-US" sz="18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 </m:t>
                                    </m:r>
                                    <m:r>
                                      <a:rPr lang="en-US" sz="18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9382084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Таблица 8">
                <a:extLst>
                  <a:ext uri="{FF2B5EF4-FFF2-40B4-BE49-F238E27FC236}">
                    <a16:creationId xmlns:a16="http://schemas.microsoft.com/office/drawing/2014/main" id="{19D60397-BF93-8E17-39BA-0F877F00C3B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92944226"/>
                  </p:ext>
                </p:extLst>
              </p:nvPr>
            </p:nvGraphicFramePr>
            <p:xfrm>
              <a:off x="838200" y="3086894"/>
              <a:ext cx="10515600" cy="2680209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3505200">
                      <a:extLst>
                        <a:ext uri="{9D8B030D-6E8A-4147-A177-3AD203B41FA5}">
                          <a16:colId xmlns:a16="http://schemas.microsoft.com/office/drawing/2014/main" val="616110766"/>
                        </a:ext>
                      </a:extLst>
                    </a:gridCol>
                    <a:gridCol w="3505200">
                      <a:extLst>
                        <a:ext uri="{9D8B030D-6E8A-4147-A177-3AD203B41FA5}">
                          <a16:colId xmlns:a16="http://schemas.microsoft.com/office/drawing/2014/main" val="2344528176"/>
                        </a:ext>
                      </a:extLst>
                    </a:gridCol>
                    <a:gridCol w="3505200">
                      <a:extLst>
                        <a:ext uri="{9D8B030D-6E8A-4147-A177-3AD203B41FA5}">
                          <a16:colId xmlns:a16="http://schemas.microsoft.com/office/drawing/2014/main" val="3860794211"/>
                        </a:ext>
                      </a:extLst>
                    </a:gridCol>
                  </a:tblGrid>
                  <a:tr h="475329">
                    <a:tc>
                      <a:txBody>
                        <a:bodyPr/>
                        <a:lstStyle/>
                        <a:p>
                          <a:r>
                            <a:rPr lang="ru-RU" dirty="0">
                              <a:effectLst/>
                            </a:rPr>
                            <a:t>Алгоритм</a:t>
                          </a:r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>
                              <a:effectLst/>
                            </a:rPr>
                            <a:t>Рекуррентность</a:t>
                          </a:r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>
                              <a:effectLst/>
                            </a:rPr>
                            <a:t>Асимптотика</a:t>
                          </a:r>
                          <a:endParaRPr lang="ru-RU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888592759"/>
                      </a:ext>
                    </a:extLst>
                  </a:tr>
                  <a:tr h="576517">
                    <a:tc>
                      <a:txBody>
                        <a:bodyPr/>
                        <a:lstStyle/>
                        <a:p>
                          <a:r>
                            <a:rPr lang="ru-RU" sz="1800" b="1" kern="1200" dirty="0">
                              <a:solidFill>
                                <a:schemeClr val="lt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Умножение Карацубы </a:t>
                          </a:r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000" t="-83158" r="-100521" b="-2884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348" t="-83158" r="-696" b="-2884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51245378"/>
                      </a:ext>
                    </a:extLst>
                  </a:tr>
                  <a:tr h="576517">
                    <a:tc>
                      <a:txBody>
                        <a:bodyPr/>
                        <a:lstStyle/>
                        <a:p>
                          <a:r>
                            <a:rPr lang="ru-RU" sz="1800" b="1" kern="1200" dirty="0">
                              <a:solidFill>
                                <a:schemeClr val="lt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Алгоритм </a:t>
                          </a:r>
                          <a:r>
                            <a:rPr lang="ru-RU" sz="1800" b="1" kern="1200" dirty="0" err="1">
                              <a:solidFill>
                                <a:schemeClr val="lt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Тоома</a:t>
                          </a:r>
                          <a:r>
                            <a:rPr lang="ru-RU" sz="1800" b="1" kern="1200" dirty="0">
                              <a:solidFill>
                                <a:schemeClr val="lt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–Кука</a:t>
                          </a:r>
                          <a:r>
                            <a:rPr lang="en-US" sz="1800" b="1" kern="1200" dirty="0">
                              <a:solidFill>
                                <a:schemeClr val="lt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(Toom-3)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000" t="-183158" r="-100521" b="-1884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348" t="-183158" r="-696" b="-1884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6444592"/>
                      </a:ext>
                    </a:extLst>
                  </a:tr>
                  <a:tr h="576517">
                    <a:tc>
                      <a:txBody>
                        <a:bodyPr/>
                        <a:lstStyle/>
                        <a:p>
                          <a:r>
                            <a:rPr lang="ru-RU" sz="1800" b="1" kern="1200" dirty="0">
                              <a:solidFill>
                                <a:schemeClr val="lt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Алгоритм Штрассена </a:t>
                          </a:r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000" t="-283158" r="-100521" b="-884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348" t="-283158" r="-696" b="-884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9849412"/>
                      </a:ext>
                    </a:extLst>
                  </a:tr>
                  <a:tr h="475329"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FFT/NTT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000" t="-466667" r="-100521" b="-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348" t="-466667" r="-696" b="-76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382084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4861543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50BDBA-10BF-9E23-929C-C568EAFDD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73866"/>
            <a:ext cx="10515600" cy="51540"/>
          </a:xfrm>
        </p:spPr>
        <p:txBody>
          <a:bodyPr>
            <a:normAutofit fontScale="90000"/>
          </a:bodyPr>
          <a:lstStyle/>
          <a:p>
            <a:r>
              <a:rPr lang="ru-RU" dirty="0"/>
              <a:t>Экспериментальная проверка полученной формулы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925DB78-19D7-65BE-0456-469E827F2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ВКР (м) студента Муханова Дмитрия Ильича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F14D21B-6418-AB2B-D943-6DAD1BB04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151D6-1CE6-4546-836D-2A836D7A7EF2}" type="slidenum">
              <a:rPr lang="ru-RU" smtClean="0"/>
              <a:pPr/>
              <a:t>13</a:t>
            </a:fld>
            <a:endParaRPr lang="ru-RU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EE919E99-A38D-07F5-C7A8-EA5CAD786A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544" y="1822494"/>
            <a:ext cx="12022911" cy="4410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8653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50BDBA-10BF-9E23-929C-C568EAFDD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95480"/>
          </a:xfrm>
        </p:spPr>
        <p:txBody>
          <a:bodyPr/>
          <a:lstStyle/>
          <a:p>
            <a:r>
              <a:rPr lang="ru-RU" dirty="0"/>
              <a:t>Сводное сравнение алгоритмов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925DB78-19D7-65BE-0456-469E827F2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ВКР (м) студента Муханова Дмитрия Ильича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F14D21B-6418-AB2B-D943-6DAD1BB04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151D6-1CE6-4546-836D-2A836D7A7EF2}" type="slidenum">
              <a:rPr lang="ru-RU" smtClean="0"/>
              <a:pPr/>
              <a:t>14</a:t>
            </a:fld>
            <a:endParaRPr lang="ru-RU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2E04D4F9-1E36-1478-BD5E-60A4F9EF6D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89270" y="775663"/>
            <a:ext cx="9413459" cy="540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4381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50BDBA-10BF-9E23-929C-C568EAFDD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00CEFD8-128C-03B1-85C3-572B036AC88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0" indent="0" rtl="0">
                  <a:lnSpc>
                    <a:spcPct val="150000"/>
                  </a:lnSpc>
                  <a:buNone/>
                </a:pPr>
                <a:r>
                  <a:rPr lang="ru-RU" sz="20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Основные результаты:</a:t>
                </a:r>
                <a:endPara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rtl="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ru-RU" sz="20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Получены точные формулы для сортировки Бэтчера:</a:t>
                </a:r>
                <a:endPara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1" indent="0">
                  <a:lnSpc>
                    <a:spcPct val="150000"/>
                  </a:lnSpc>
                  <a:buNone/>
                </a:pPr>
                <a:r>
                  <a:rPr lang="en-US" sz="16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1.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b="0" i="0">
                        <a:latin typeface="Cambria Math" panose="02040503050406030204" pitchFamily="18" charset="0"/>
                      </a:rPr>
                      <m:t>M</m:t>
                    </m:r>
                    <m:d>
                      <m:d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1600" b="0" i="0">
                            <a:latin typeface="Cambria Math" panose="02040503050406030204" pitchFamily="18" charset="0"/>
                          </a:rPr>
                          <m:t>n</m:t>
                        </m:r>
                      </m:e>
                    </m:d>
                    <m:r>
                      <a:rPr lang="en-US" sz="1600" b="0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·</m:t>
                        </m:r>
                        <m:r>
                          <m:rPr>
                            <m:sty m:val="p"/>
                          </m:rPr>
                          <a:rPr lang="en-US" sz="1600" b="0" i="0">
                            <a:latin typeface="Cambria Math" panose="02040503050406030204" pitchFamily="18" charset="0"/>
                          </a:rPr>
                          <m:t>lo</m:t>
                        </m:r>
                        <m:sSub>
                          <m:sSubPr>
                            <m:ctrlPr>
                              <a:rPr lang="ru-RU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600" b="0" i="0">
                                <a:latin typeface="Cambria Math" panose="02040503050406030204" pitchFamily="18" charset="0"/>
                              </a:rPr>
                              <m:t>g</m:t>
                            </m:r>
                          </m:e>
                          <m:sub>
                            <m:r>
                              <a:rPr lang="en-US" sz="1600" b="0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600" b="0" i="1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sz="1600" b="0" i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1600" b="0" i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1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sz="1600" b="0" i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1600" b="0" i="0">
                        <a:latin typeface="Cambria Math" panose="02040503050406030204" pitchFamily="18" charset="0"/>
                      </a:rPr>
                      <m:t>+ 1</m:t>
                    </m:r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  <a:endParaRPr lang="ru-RU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1" indent="0">
                  <a:lnSpc>
                    <a:spcPct val="150000"/>
                  </a:lnSpc>
                  <a:buNone/>
                </a:pPr>
                <a:r>
                  <a:rPr lang="en-US" sz="16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 sz="1600" i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S</m:t>
                    </m:r>
                    <m:d>
                      <m:d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</m:d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·</m:t>
                        </m:r>
                        <m:r>
                          <m:rPr>
                            <m:sty m:val="p"/>
                          </m:rPr>
                          <a:rPr lang="ru-RU" sz="1600" i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lo</m:t>
                        </m:r>
                        <m:sSub>
                          <m:sSubPr>
                            <m:ctrlPr>
                              <a:rPr lang="ru-RU" sz="16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u-RU" sz="1600" i="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g</m:t>
                            </m:r>
                          </m:e>
                          <m:sub>
                            <m:r>
                              <a:rPr lang="en-US" sz="1600" i="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·</m:t>
                        </m:r>
                        <m:d>
                          <m:dPr>
                            <m:ctrlPr>
                              <a:rPr lang="ru-RU" sz="16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ru-RU" sz="1600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ru-RU" sz="16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ru-RU" sz="16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fName>
                              <m:e>
                                <m:r>
                                  <a:rPr lang="ru-RU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</m:e>
                            </m:func>
                            <m: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 − 1</m:t>
                            </m:r>
                          </m:e>
                        </m:d>
                      </m:num>
                      <m:den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den>
                    </m:f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 </m:t>
                    </m:r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− 1</m:t>
                    </m:r>
                  </m:oMath>
                </a14:m>
                <a:endParaRPr lang="en-US" sz="160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1" indent="0">
                  <a:lnSpc>
                    <a:spcPct val="150000"/>
                  </a:lnSpc>
                  <a:buNone/>
                </a:pPr>
                <a:r>
                  <a:rPr lang="en-US" sz="16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sz="1600" dirty="0">
                    <a:effectLst/>
                  </a:rPr>
                  <a:t>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600" i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d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 i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S</m:t>
                        </m:r>
                        <m:d>
                          <m:dPr>
                            <m:ctrlPr>
                              <a:rPr lang="ru-RU" sz="16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z="1600" i="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n</m:t>
                            </m:r>
                          </m:e>
                        </m:d>
                      </m:sub>
                    </m:sSub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ru-RU" sz="16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ru-RU" sz="1600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16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</m:func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·</m:t>
                        </m:r>
                        <m:d>
                          <m:dPr>
                            <m:ctrlPr>
                              <a:rPr lang="ru-RU" sz="16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ru-RU" sz="1600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ru-RU" sz="16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6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fName>
                              <m:e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</m:e>
                            </m:func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 + 1</m:t>
                            </m:r>
                          </m:e>
                        </m:d>
                      </m:num>
                      <m:den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ru-RU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rtl="0">
                  <a:lnSpc>
                    <a:spcPct val="150000"/>
                  </a:lnSpc>
                  <a:buFont typeface="+mj-lt"/>
                  <a:buAutoNum type="arabicPeriod" startAt="2"/>
                </a:pPr>
                <a:r>
                  <a:rPr lang="ru-RU" sz="20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Выделены условия применимости метода раскрутки.</a:t>
                </a:r>
                <a:endPara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rtl="0">
                  <a:lnSpc>
                    <a:spcPct val="150000"/>
                  </a:lnSpc>
                  <a:buFont typeface="+mj-lt"/>
                  <a:buAutoNum type="arabicPeriod" startAt="3"/>
                </a:pPr>
                <a:r>
                  <a:rPr lang="ru-RU" sz="20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Показано, какие сортировки требуют других методов.</a:t>
                </a:r>
                <a:endPara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rtl="0">
                  <a:lnSpc>
                    <a:spcPct val="150000"/>
                  </a:lnSpc>
                  <a:buFont typeface="+mj-lt"/>
                  <a:buAutoNum type="arabicPeriod" startAt="4"/>
                </a:pPr>
                <a:r>
                  <a:rPr lang="ru-RU" sz="20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Метод распространён на другие алгоритмы парадигмы </a:t>
                </a:r>
                <a:r>
                  <a:rPr lang="en-US" sz="20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“</a:t>
                </a:r>
                <a:r>
                  <a:rPr lang="ru-RU" sz="20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разделяй и властвуй</a:t>
                </a:r>
                <a:r>
                  <a:rPr lang="en-US" sz="20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”</a:t>
                </a:r>
                <a:r>
                  <a:rPr lang="ru-RU" sz="20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rtl="0">
                  <a:lnSpc>
                    <a:spcPct val="150000"/>
                  </a:lnSpc>
                  <a:buFont typeface="+mj-lt"/>
                  <a:buAutoNum type="arabicPeriod" startAt="5"/>
                </a:pPr>
                <a:r>
                  <a:rPr lang="ru-RU" sz="20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Эксперимент подтвердил теоретические формулы.</a:t>
                </a:r>
                <a:endPara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00CEFD8-128C-03B1-85C3-572B036AC8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925DB78-19D7-65BE-0456-469E827F2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ВКР (м) студента Муханова Дмитрия Ильича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F14D21B-6418-AB2B-D943-6DAD1BB04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151D6-1CE6-4546-836D-2A836D7A7EF2}" type="slidenum">
              <a:rPr lang="ru-RU" smtClean="0"/>
              <a:pPr/>
              <a:t>15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409375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E0E5AE-85F9-1C57-E3A5-F2EBC3D3E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Исходный код проекта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722ABDE-B8FF-0C5C-5A8F-BB24A4704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ВКР (м) студента</a:t>
            </a:r>
            <a:r>
              <a:rPr lang="en-US" dirty="0"/>
              <a:t>: </a:t>
            </a:r>
            <a:r>
              <a:rPr lang="ru-RU" dirty="0" err="1"/>
              <a:t>Муханова</a:t>
            </a:r>
            <a:r>
              <a:rPr lang="ru-RU" dirty="0"/>
              <a:t> Дмитрия Ильича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F54CC8B-6954-D31A-6C97-C46861D59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151D6-1CE6-4546-836D-2A836D7A7EF2}" type="slidenum">
              <a:rPr lang="ru-RU" smtClean="0"/>
              <a:pPr/>
              <a:t>16</a:t>
            </a:fld>
            <a:endParaRPr lang="ru-RU" dirty="0"/>
          </a:p>
        </p:txBody>
      </p:sp>
      <p:pic>
        <p:nvPicPr>
          <p:cNvPr id="11" name="Объект 10" descr="Изображение выглядит как шаблон, Симметрия, прямоугольный, дизай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E51E08F1-3031-E880-B68B-0B38488B8F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6266" y="1585989"/>
            <a:ext cx="4351338" cy="4351338"/>
          </a:xfrm>
        </p:spPr>
      </p:pic>
    </p:spTree>
    <p:extLst>
      <p:ext uri="{BB962C8B-B14F-4D97-AF65-F5344CB8AC3E}">
        <p14:creationId xmlns:p14="http://schemas.microsoft.com/office/powerpoint/2010/main" val="4176113867"/>
      </p:ext>
    </p:extLst>
  </p:cSld>
  <p:clrMapOvr>
    <a:masterClrMapping/>
  </p:clrMapOvr>
</p:sld>
</file>

<file path=ppt/theme/theme1.xml><?xml version="1.0" encoding="utf-8"?>
<a:theme xmlns:a="http://schemas.openxmlformats.org/drawingml/2006/main" name="1_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1970</TotalTime>
  <Words>1441</Words>
  <Application>Microsoft Office PowerPoint</Application>
  <PresentationFormat>Широкоэкранный</PresentationFormat>
  <Paragraphs>165</Paragraphs>
  <Slides>16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4" baseType="lpstr">
      <vt:lpstr>Aptos</vt:lpstr>
      <vt:lpstr>Arial</vt:lpstr>
      <vt:lpstr>Arial Black</vt:lpstr>
      <vt:lpstr>Arial Narrow</vt:lpstr>
      <vt:lpstr>Cambria Math</vt:lpstr>
      <vt:lpstr>Impact</vt:lpstr>
      <vt:lpstr>Times New Roman</vt:lpstr>
      <vt:lpstr>1_Тема Office</vt:lpstr>
      <vt:lpstr>Выпускная квалификационная работа магистра на тему: «Асимптотический анализ алгоритма сортировки Бэтчера и его сравнение с классическими методами сортировки»</vt:lpstr>
      <vt:lpstr>Актуальность темы</vt:lpstr>
      <vt:lpstr>Цель и задачи работы</vt:lpstr>
      <vt:lpstr>Объект и предмет исследования</vt:lpstr>
      <vt:lpstr>Устройство сортировки Бэтчера</vt:lpstr>
      <vt:lpstr> Асимптотическая сложность сортировки Бэтчера</vt:lpstr>
      <vt:lpstr>Предмет исследования и выбранный метод</vt:lpstr>
      <vt:lpstr>Пример: раскрутка для операции слияния</vt:lpstr>
      <vt:lpstr>Необходимые условия применимости</vt:lpstr>
      <vt:lpstr>Соответствие классических сортировок условиям A–C</vt:lpstr>
      <vt:lpstr> Когда метод «как есть» не применим</vt:lpstr>
      <vt:lpstr>Другие алгоритмы парадигмы “разделяй и властвуй”, анализируемые тем же методом</vt:lpstr>
      <vt:lpstr>Экспериментальная проверка полученной формулы</vt:lpstr>
      <vt:lpstr>Сводное сравнение алгоритмов</vt:lpstr>
      <vt:lpstr>Выводы</vt:lpstr>
      <vt:lpstr>Исходный код проекта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Выпускная квалификационная работа магистра на тему: «Асимптотический анализ алгоритма сортировки Бэтчера и его сравнение с классическими методами сортировки»</dc:title>
  <dc:creator>mitya much</dc:creator>
  <cp:lastModifiedBy>mitya much</cp:lastModifiedBy>
  <cp:revision>73</cp:revision>
  <dcterms:created xsi:type="dcterms:W3CDTF">2026-05-12T15:13:03Z</dcterms:created>
  <dcterms:modified xsi:type="dcterms:W3CDTF">2026-06-22T19:17:13Z</dcterms:modified>
</cp:coreProperties>
</file>